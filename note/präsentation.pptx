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7" r:id="rId3"/>
    <p:sldId id="275" r:id="rId4"/>
    <p:sldId id="258" r:id="rId5"/>
    <p:sldId id="259" r:id="rId6"/>
    <p:sldId id="260" r:id="rId7"/>
    <p:sldId id="261" r:id="rId8"/>
    <p:sldId id="262" r:id="rId9"/>
    <p:sldId id="263" r:id="rId10"/>
    <p:sldId id="264" r:id="rId11"/>
    <p:sldId id="266" r:id="rId12"/>
    <p:sldId id="265" r:id="rId13"/>
    <p:sldId id="267" r:id="rId14"/>
    <p:sldId id="269" r:id="rId15"/>
    <p:sldId id="268" r:id="rId16"/>
    <p:sldId id="270" r:id="rId17"/>
    <p:sldId id="271" r:id="rId18"/>
    <p:sldId id="274" r:id="rId19"/>
    <p:sldId id="272" r:id="rId20"/>
    <p:sldId id="273" r:id="rId21"/>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8359B"/>
    <a:srgbClr val="171A23"/>
    <a:srgbClr val="7FB6D3"/>
    <a:srgbClr val="3B3B95"/>
    <a:srgbClr val="D0C238"/>
    <a:srgbClr val="A82828"/>
    <a:srgbClr val="A50021"/>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ittlere Formatvorlag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71" autoAdjust="0"/>
    <p:restoredTop sz="94660"/>
  </p:normalViewPr>
  <p:slideViewPr>
    <p:cSldViewPr snapToGrid="0">
      <p:cViewPr varScale="1">
        <p:scale>
          <a:sx n="150" d="100"/>
          <a:sy n="150" d="100"/>
        </p:scale>
        <p:origin x="612"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CE86D8-E4B2-4C9D-BEBF-8C1475A253D2}" type="datetimeFigureOut">
              <a:rPr lang="en-DE" smtClean="0"/>
              <a:t>25/02/2025</a:t>
            </a:fld>
            <a:endParaRPr lang="en-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DEA311-F4A3-4C66-B188-D3C6DF483C0C}" type="slidenum">
              <a:rPr lang="en-DE" smtClean="0"/>
              <a:t>‹Nr.›</a:t>
            </a:fld>
            <a:endParaRPr lang="en-DE"/>
          </a:p>
        </p:txBody>
      </p:sp>
    </p:spTree>
    <p:extLst>
      <p:ext uri="{BB962C8B-B14F-4D97-AF65-F5344CB8AC3E}">
        <p14:creationId xmlns:p14="http://schemas.microsoft.com/office/powerpoint/2010/main" val="20906924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C996F20-E21D-1394-78D8-04A26F2E6197}"/>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DE"/>
          </a:p>
        </p:txBody>
      </p:sp>
      <p:sp>
        <p:nvSpPr>
          <p:cNvPr id="3" name="Untertitel 2">
            <a:extLst>
              <a:ext uri="{FF2B5EF4-FFF2-40B4-BE49-F238E27FC236}">
                <a16:creationId xmlns:a16="http://schemas.microsoft.com/office/drawing/2014/main" id="{79A7EE34-B55E-63AE-67E5-AE960EE1B3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DE"/>
          </a:p>
        </p:txBody>
      </p:sp>
      <p:sp>
        <p:nvSpPr>
          <p:cNvPr id="4" name="Datumsplatzhalter 3">
            <a:extLst>
              <a:ext uri="{FF2B5EF4-FFF2-40B4-BE49-F238E27FC236}">
                <a16:creationId xmlns:a16="http://schemas.microsoft.com/office/drawing/2014/main" id="{F1C0CC77-0036-2FA4-5316-00ADADAA6CC5}"/>
              </a:ext>
            </a:extLst>
          </p:cNvPr>
          <p:cNvSpPr>
            <a:spLocks noGrp="1"/>
          </p:cNvSpPr>
          <p:nvPr>
            <p:ph type="dt" sz="half" idx="10"/>
          </p:nvPr>
        </p:nvSpPr>
        <p:spPr/>
        <p:txBody>
          <a:bodyPr/>
          <a:lstStyle/>
          <a:p>
            <a:fld id="{C631460D-9800-498B-B992-8875F4391BD9}" type="datetime8">
              <a:rPr lang="en-DE" smtClean="0"/>
              <a:t>25/02/2025 08:48</a:t>
            </a:fld>
            <a:endParaRPr lang="en-DE"/>
          </a:p>
        </p:txBody>
      </p:sp>
      <p:sp>
        <p:nvSpPr>
          <p:cNvPr id="5" name="Fußzeilenplatzhalter 4">
            <a:extLst>
              <a:ext uri="{FF2B5EF4-FFF2-40B4-BE49-F238E27FC236}">
                <a16:creationId xmlns:a16="http://schemas.microsoft.com/office/drawing/2014/main" id="{ABD02B3B-3209-0703-50C9-00548E35645D}"/>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FA107CD3-BDC0-5434-B470-2ACDF1F969DA}"/>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11034608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23C50A-291A-A975-EC69-B4E719A1DE5C}"/>
              </a:ext>
            </a:extLst>
          </p:cNvPr>
          <p:cNvSpPr>
            <a:spLocks noGrp="1"/>
          </p:cNvSpPr>
          <p:nvPr>
            <p:ph type="title"/>
          </p:nvPr>
        </p:nvSpPr>
        <p:spPr/>
        <p:txBody>
          <a:bodyPr/>
          <a:lstStyle/>
          <a:p>
            <a:r>
              <a:rPr lang="de-DE"/>
              <a:t>Mastertitelformat bearbeiten</a:t>
            </a:r>
            <a:endParaRPr lang="en-DE"/>
          </a:p>
        </p:txBody>
      </p:sp>
      <p:sp>
        <p:nvSpPr>
          <p:cNvPr id="3" name="Inhaltsplatzhalter 2">
            <a:extLst>
              <a:ext uri="{FF2B5EF4-FFF2-40B4-BE49-F238E27FC236}">
                <a16:creationId xmlns:a16="http://schemas.microsoft.com/office/drawing/2014/main" id="{2D048192-4559-D7C8-CF07-06EFFF612A7F}"/>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F10EE756-442D-3511-F070-8B11AF0D1C9E}"/>
              </a:ext>
            </a:extLst>
          </p:cNvPr>
          <p:cNvSpPr>
            <a:spLocks noGrp="1"/>
          </p:cNvSpPr>
          <p:nvPr>
            <p:ph type="dt" sz="half" idx="10"/>
          </p:nvPr>
        </p:nvSpPr>
        <p:spPr/>
        <p:txBody>
          <a:bodyPr/>
          <a:lstStyle/>
          <a:p>
            <a:fld id="{31BC7B54-6829-4F41-A463-BF8857A13C62}" type="datetime8">
              <a:rPr lang="en-DE" smtClean="0"/>
              <a:t>25/02/2025 08:48</a:t>
            </a:fld>
            <a:endParaRPr lang="en-DE"/>
          </a:p>
        </p:txBody>
      </p:sp>
      <p:sp>
        <p:nvSpPr>
          <p:cNvPr id="5" name="Fußzeilenplatzhalter 4">
            <a:extLst>
              <a:ext uri="{FF2B5EF4-FFF2-40B4-BE49-F238E27FC236}">
                <a16:creationId xmlns:a16="http://schemas.microsoft.com/office/drawing/2014/main" id="{21D7505C-4245-2D70-63DD-0135018EE569}"/>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59705B10-82F4-58A5-9645-CA8CDBBD12DC}"/>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0302484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FF50F9D-6D6E-C4B0-2059-ED37290E7C7C}"/>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DE"/>
          </a:p>
        </p:txBody>
      </p:sp>
      <p:sp>
        <p:nvSpPr>
          <p:cNvPr id="3" name="Textplatzhalter 2">
            <a:extLst>
              <a:ext uri="{FF2B5EF4-FFF2-40B4-BE49-F238E27FC236}">
                <a16:creationId xmlns:a16="http://schemas.microsoft.com/office/drawing/2014/main" id="{1C8E064D-DDA0-8C52-795A-D288E4B0914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43434489-A9D7-9C72-FA22-396B860919E2}"/>
              </a:ext>
            </a:extLst>
          </p:cNvPr>
          <p:cNvSpPr>
            <a:spLocks noGrp="1"/>
          </p:cNvSpPr>
          <p:nvPr>
            <p:ph type="dt" sz="half" idx="10"/>
          </p:nvPr>
        </p:nvSpPr>
        <p:spPr/>
        <p:txBody>
          <a:bodyPr/>
          <a:lstStyle/>
          <a:p>
            <a:fld id="{1353A0A5-9E68-4012-8B2D-027D119EA806}" type="datetime8">
              <a:rPr lang="en-DE" smtClean="0"/>
              <a:t>25/02/2025 08:48</a:t>
            </a:fld>
            <a:endParaRPr lang="en-DE"/>
          </a:p>
        </p:txBody>
      </p:sp>
      <p:sp>
        <p:nvSpPr>
          <p:cNvPr id="5" name="Fußzeilenplatzhalter 4">
            <a:extLst>
              <a:ext uri="{FF2B5EF4-FFF2-40B4-BE49-F238E27FC236}">
                <a16:creationId xmlns:a16="http://schemas.microsoft.com/office/drawing/2014/main" id="{AAAD4FB5-F04C-1825-6192-40133F53EB64}"/>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2CE31F04-C925-902D-7452-842B9C706B18}"/>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836059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4932E59-474E-4434-FE9E-7D9A43312D72}"/>
              </a:ext>
            </a:extLst>
          </p:cNvPr>
          <p:cNvSpPr>
            <a:spLocks noGrp="1"/>
          </p:cNvSpPr>
          <p:nvPr>
            <p:ph type="title"/>
          </p:nvPr>
        </p:nvSpPr>
        <p:spPr/>
        <p:txBody>
          <a:bodyPr/>
          <a:lstStyle/>
          <a:p>
            <a:r>
              <a:rPr lang="de-DE"/>
              <a:t>Mastertitelformat bearbeiten</a:t>
            </a:r>
            <a:endParaRPr lang="en-DE"/>
          </a:p>
        </p:txBody>
      </p:sp>
      <p:sp>
        <p:nvSpPr>
          <p:cNvPr id="3" name="Inhaltsplatzhalter 2">
            <a:extLst>
              <a:ext uri="{FF2B5EF4-FFF2-40B4-BE49-F238E27FC236}">
                <a16:creationId xmlns:a16="http://schemas.microsoft.com/office/drawing/2014/main" id="{FC497CC4-2BD2-9BEB-CE62-C7D70B53B6A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Inhaltsplatzhalter 3">
            <a:extLst>
              <a:ext uri="{FF2B5EF4-FFF2-40B4-BE49-F238E27FC236}">
                <a16:creationId xmlns:a16="http://schemas.microsoft.com/office/drawing/2014/main" id="{735EBA07-419D-38EE-21C1-A6B357CD6196}"/>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5" name="Datumsplatzhalter 4">
            <a:extLst>
              <a:ext uri="{FF2B5EF4-FFF2-40B4-BE49-F238E27FC236}">
                <a16:creationId xmlns:a16="http://schemas.microsoft.com/office/drawing/2014/main" id="{1F36C7F7-3DCE-1F52-DC4F-F70C454A2BD4}"/>
              </a:ext>
            </a:extLst>
          </p:cNvPr>
          <p:cNvSpPr>
            <a:spLocks noGrp="1"/>
          </p:cNvSpPr>
          <p:nvPr>
            <p:ph type="dt" sz="half" idx="10"/>
          </p:nvPr>
        </p:nvSpPr>
        <p:spPr/>
        <p:txBody>
          <a:bodyPr/>
          <a:lstStyle/>
          <a:p>
            <a:fld id="{B77A4169-20C0-40B5-BF4E-738CF0D1A560}" type="datetime8">
              <a:rPr lang="en-DE" smtClean="0"/>
              <a:t>25/02/2025 08:48</a:t>
            </a:fld>
            <a:endParaRPr lang="en-DE"/>
          </a:p>
        </p:txBody>
      </p:sp>
      <p:sp>
        <p:nvSpPr>
          <p:cNvPr id="6" name="Fußzeilenplatzhalter 5">
            <a:extLst>
              <a:ext uri="{FF2B5EF4-FFF2-40B4-BE49-F238E27FC236}">
                <a16:creationId xmlns:a16="http://schemas.microsoft.com/office/drawing/2014/main" id="{DD88A4AA-DCD8-835F-C874-A1197AE01E52}"/>
              </a:ext>
            </a:extLst>
          </p:cNvPr>
          <p:cNvSpPr>
            <a:spLocks noGrp="1"/>
          </p:cNvSpPr>
          <p:nvPr>
            <p:ph type="ftr" sz="quarter" idx="11"/>
          </p:nvPr>
        </p:nvSpPr>
        <p:spPr/>
        <p:txBody>
          <a:bodyPr/>
          <a:lstStyle/>
          <a:p>
            <a:endParaRPr lang="en-DE"/>
          </a:p>
        </p:txBody>
      </p:sp>
      <p:sp>
        <p:nvSpPr>
          <p:cNvPr id="7" name="Foliennummernplatzhalter 6">
            <a:extLst>
              <a:ext uri="{FF2B5EF4-FFF2-40B4-BE49-F238E27FC236}">
                <a16:creationId xmlns:a16="http://schemas.microsoft.com/office/drawing/2014/main" id="{721C0F23-E5E4-8E5F-B90D-643E2EFC45D1}"/>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42895739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EF9A7B-F8D7-4969-2B05-5BC0CCDCB2E8}"/>
              </a:ext>
            </a:extLst>
          </p:cNvPr>
          <p:cNvSpPr>
            <a:spLocks noGrp="1"/>
          </p:cNvSpPr>
          <p:nvPr>
            <p:ph type="title"/>
          </p:nvPr>
        </p:nvSpPr>
        <p:spPr>
          <a:xfrm>
            <a:off x="839788" y="365125"/>
            <a:ext cx="10515600" cy="1325563"/>
          </a:xfrm>
        </p:spPr>
        <p:txBody>
          <a:bodyPr/>
          <a:lstStyle/>
          <a:p>
            <a:r>
              <a:rPr lang="de-DE"/>
              <a:t>Mastertitelformat bearbeiten</a:t>
            </a:r>
            <a:endParaRPr lang="en-DE"/>
          </a:p>
        </p:txBody>
      </p:sp>
      <p:sp>
        <p:nvSpPr>
          <p:cNvPr id="3" name="Textplatzhalter 2">
            <a:extLst>
              <a:ext uri="{FF2B5EF4-FFF2-40B4-BE49-F238E27FC236}">
                <a16:creationId xmlns:a16="http://schemas.microsoft.com/office/drawing/2014/main" id="{97C144F5-6E59-3979-873F-0CC2CCF375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61708FBE-3283-507E-0DF3-9E894AE3FB5F}"/>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5" name="Textplatzhalter 4">
            <a:extLst>
              <a:ext uri="{FF2B5EF4-FFF2-40B4-BE49-F238E27FC236}">
                <a16:creationId xmlns:a16="http://schemas.microsoft.com/office/drawing/2014/main" id="{C8044FAF-A879-BE4D-A622-A351F6BA8E3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778B4B6E-53B5-952F-3573-1E7B3C527F96}"/>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7" name="Datumsplatzhalter 6">
            <a:extLst>
              <a:ext uri="{FF2B5EF4-FFF2-40B4-BE49-F238E27FC236}">
                <a16:creationId xmlns:a16="http://schemas.microsoft.com/office/drawing/2014/main" id="{C7061431-DB68-BF26-A8B3-7D7A498FD117}"/>
              </a:ext>
            </a:extLst>
          </p:cNvPr>
          <p:cNvSpPr>
            <a:spLocks noGrp="1"/>
          </p:cNvSpPr>
          <p:nvPr>
            <p:ph type="dt" sz="half" idx="10"/>
          </p:nvPr>
        </p:nvSpPr>
        <p:spPr/>
        <p:txBody>
          <a:bodyPr/>
          <a:lstStyle/>
          <a:p>
            <a:fld id="{B7ADE97F-D80B-42CB-8AB4-7567E1DAD779}" type="datetime8">
              <a:rPr lang="en-DE" smtClean="0"/>
              <a:t>25/02/2025 08:48</a:t>
            </a:fld>
            <a:endParaRPr lang="en-DE"/>
          </a:p>
        </p:txBody>
      </p:sp>
      <p:sp>
        <p:nvSpPr>
          <p:cNvPr id="8" name="Fußzeilenplatzhalter 7">
            <a:extLst>
              <a:ext uri="{FF2B5EF4-FFF2-40B4-BE49-F238E27FC236}">
                <a16:creationId xmlns:a16="http://schemas.microsoft.com/office/drawing/2014/main" id="{EF8D8CBE-7D1C-AB41-83F3-7117F5372ADA}"/>
              </a:ext>
            </a:extLst>
          </p:cNvPr>
          <p:cNvSpPr>
            <a:spLocks noGrp="1"/>
          </p:cNvSpPr>
          <p:nvPr>
            <p:ph type="ftr" sz="quarter" idx="11"/>
          </p:nvPr>
        </p:nvSpPr>
        <p:spPr/>
        <p:txBody>
          <a:bodyPr/>
          <a:lstStyle/>
          <a:p>
            <a:endParaRPr lang="en-DE"/>
          </a:p>
        </p:txBody>
      </p:sp>
      <p:sp>
        <p:nvSpPr>
          <p:cNvPr id="9" name="Foliennummernplatzhalter 8">
            <a:extLst>
              <a:ext uri="{FF2B5EF4-FFF2-40B4-BE49-F238E27FC236}">
                <a16:creationId xmlns:a16="http://schemas.microsoft.com/office/drawing/2014/main" id="{6B63298A-A987-0121-4263-ABB7562484B2}"/>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100572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174877-6108-4D78-59AE-4402C25E6890}"/>
              </a:ext>
            </a:extLst>
          </p:cNvPr>
          <p:cNvSpPr>
            <a:spLocks noGrp="1"/>
          </p:cNvSpPr>
          <p:nvPr>
            <p:ph type="title"/>
          </p:nvPr>
        </p:nvSpPr>
        <p:spPr/>
        <p:txBody>
          <a:bodyPr/>
          <a:lstStyle/>
          <a:p>
            <a:r>
              <a:rPr lang="de-DE"/>
              <a:t>Mastertitelformat bearbeiten</a:t>
            </a:r>
            <a:endParaRPr lang="en-DE"/>
          </a:p>
        </p:txBody>
      </p:sp>
      <p:sp>
        <p:nvSpPr>
          <p:cNvPr id="3" name="Datumsplatzhalter 2">
            <a:extLst>
              <a:ext uri="{FF2B5EF4-FFF2-40B4-BE49-F238E27FC236}">
                <a16:creationId xmlns:a16="http://schemas.microsoft.com/office/drawing/2014/main" id="{EB2FDA09-E930-87EC-4A8F-B4FE41CDD749}"/>
              </a:ext>
            </a:extLst>
          </p:cNvPr>
          <p:cNvSpPr>
            <a:spLocks noGrp="1"/>
          </p:cNvSpPr>
          <p:nvPr>
            <p:ph type="dt" sz="half" idx="10"/>
          </p:nvPr>
        </p:nvSpPr>
        <p:spPr/>
        <p:txBody>
          <a:bodyPr/>
          <a:lstStyle/>
          <a:p>
            <a:fld id="{821BB307-F75F-4DD8-99A5-59C3511F43B8}" type="datetime8">
              <a:rPr lang="en-DE" smtClean="0"/>
              <a:t>25/02/2025 08:48</a:t>
            </a:fld>
            <a:endParaRPr lang="en-DE"/>
          </a:p>
        </p:txBody>
      </p:sp>
      <p:sp>
        <p:nvSpPr>
          <p:cNvPr id="4" name="Fußzeilenplatzhalter 3">
            <a:extLst>
              <a:ext uri="{FF2B5EF4-FFF2-40B4-BE49-F238E27FC236}">
                <a16:creationId xmlns:a16="http://schemas.microsoft.com/office/drawing/2014/main" id="{C4CCE365-E093-09BC-E1FE-B9C123599E5D}"/>
              </a:ext>
            </a:extLst>
          </p:cNvPr>
          <p:cNvSpPr>
            <a:spLocks noGrp="1"/>
          </p:cNvSpPr>
          <p:nvPr>
            <p:ph type="ftr" sz="quarter" idx="11"/>
          </p:nvPr>
        </p:nvSpPr>
        <p:spPr/>
        <p:txBody>
          <a:bodyPr/>
          <a:lstStyle/>
          <a:p>
            <a:endParaRPr lang="en-DE"/>
          </a:p>
        </p:txBody>
      </p:sp>
      <p:sp>
        <p:nvSpPr>
          <p:cNvPr id="5" name="Foliennummernplatzhalter 4">
            <a:extLst>
              <a:ext uri="{FF2B5EF4-FFF2-40B4-BE49-F238E27FC236}">
                <a16:creationId xmlns:a16="http://schemas.microsoft.com/office/drawing/2014/main" id="{4BE43906-525E-F406-9A9E-485FABCCA282}"/>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355815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4616F50C-A3EE-06F8-0907-D9D115BEB44A}"/>
              </a:ext>
            </a:extLst>
          </p:cNvPr>
          <p:cNvSpPr>
            <a:spLocks noGrp="1"/>
          </p:cNvSpPr>
          <p:nvPr>
            <p:ph type="dt" sz="half" idx="10"/>
          </p:nvPr>
        </p:nvSpPr>
        <p:spPr/>
        <p:txBody>
          <a:bodyPr/>
          <a:lstStyle/>
          <a:p>
            <a:fld id="{E26B4EC7-9C46-4879-9373-2EA8805A7945}" type="datetime8">
              <a:rPr lang="en-DE" smtClean="0"/>
              <a:t>25/02/2025 08:48</a:t>
            </a:fld>
            <a:endParaRPr lang="en-DE"/>
          </a:p>
        </p:txBody>
      </p:sp>
      <p:sp>
        <p:nvSpPr>
          <p:cNvPr id="3" name="Fußzeilenplatzhalter 2">
            <a:extLst>
              <a:ext uri="{FF2B5EF4-FFF2-40B4-BE49-F238E27FC236}">
                <a16:creationId xmlns:a16="http://schemas.microsoft.com/office/drawing/2014/main" id="{B07BC565-9135-FFDF-8FC9-166D89B6D0EA}"/>
              </a:ext>
            </a:extLst>
          </p:cNvPr>
          <p:cNvSpPr>
            <a:spLocks noGrp="1"/>
          </p:cNvSpPr>
          <p:nvPr>
            <p:ph type="ftr" sz="quarter" idx="11"/>
          </p:nvPr>
        </p:nvSpPr>
        <p:spPr/>
        <p:txBody>
          <a:bodyPr/>
          <a:lstStyle/>
          <a:p>
            <a:endParaRPr lang="en-DE"/>
          </a:p>
        </p:txBody>
      </p:sp>
      <p:sp>
        <p:nvSpPr>
          <p:cNvPr id="4" name="Foliennummernplatzhalter 3">
            <a:extLst>
              <a:ext uri="{FF2B5EF4-FFF2-40B4-BE49-F238E27FC236}">
                <a16:creationId xmlns:a16="http://schemas.microsoft.com/office/drawing/2014/main" id="{1BAED5D6-F182-EA46-3C27-FDA98867CC03}"/>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8269381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66F4CE8-9BED-998B-D806-D2EA653A4E0D}"/>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DE"/>
          </a:p>
        </p:txBody>
      </p:sp>
      <p:sp>
        <p:nvSpPr>
          <p:cNvPr id="3" name="Inhaltsplatzhalter 2">
            <a:extLst>
              <a:ext uri="{FF2B5EF4-FFF2-40B4-BE49-F238E27FC236}">
                <a16:creationId xmlns:a16="http://schemas.microsoft.com/office/drawing/2014/main" id="{AC4116F6-185E-5782-D86E-96B9A61BA0E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Textplatzhalter 3">
            <a:extLst>
              <a:ext uri="{FF2B5EF4-FFF2-40B4-BE49-F238E27FC236}">
                <a16:creationId xmlns:a16="http://schemas.microsoft.com/office/drawing/2014/main" id="{F2E846C1-C6C8-FCBA-35FC-477090984E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83859171-52B1-A391-C969-6DF456C206D4}"/>
              </a:ext>
            </a:extLst>
          </p:cNvPr>
          <p:cNvSpPr>
            <a:spLocks noGrp="1"/>
          </p:cNvSpPr>
          <p:nvPr>
            <p:ph type="dt" sz="half" idx="10"/>
          </p:nvPr>
        </p:nvSpPr>
        <p:spPr/>
        <p:txBody>
          <a:bodyPr/>
          <a:lstStyle/>
          <a:p>
            <a:fld id="{7FED823A-8541-4632-9B17-9360EA9CA6AD}" type="datetime8">
              <a:rPr lang="en-DE" smtClean="0"/>
              <a:t>25/02/2025 08:48</a:t>
            </a:fld>
            <a:endParaRPr lang="en-DE"/>
          </a:p>
        </p:txBody>
      </p:sp>
      <p:sp>
        <p:nvSpPr>
          <p:cNvPr id="6" name="Fußzeilenplatzhalter 5">
            <a:extLst>
              <a:ext uri="{FF2B5EF4-FFF2-40B4-BE49-F238E27FC236}">
                <a16:creationId xmlns:a16="http://schemas.microsoft.com/office/drawing/2014/main" id="{E0C2068B-5624-7508-F05C-8B18FD601C3B}"/>
              </a:ext>
            </a:extLst>
          </p:cNvPr>
          <p:cNvSpPr>
            <a:spLocks noGrp="1"/>
          </p:cNvSpPr>
          <p:nvPr>
            <p:ph type="ftr" sz="quarter" idx="11"/>
          </p:nvPr>
        </p:nvSpPr>
        <p:spPr/>
        <p:txBody>
          <a:bodyPr/>
          <a:lstStyle/>
          <a:p>
            <a:endParaRPr lang="en-DE"/>
          </a:p>
        </p:txBody>
      </p:sp>
      <p:sp>
        <p:nvSpPr>
          <p:cNvPr id="7" name="Foliennummernplatzhalter 6">
            <a:extLst>
              <a:ext uri="{FF2B5EF4-FFF2-40B4-BE49-F238E27FC236}">
                <a16:creationId xmlns:a16="http://schemas.microsoft.com/office/drawing/2014/main" id="{871473F9-426D-6BE0-8927-55EBAD5BDB81}"/>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4041765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D38DEF-A369-8FFD-5B58-CBD2FC194B17}"/>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DE"/>
          </a:p>
        </p:txBody>
      </p:sp>
      <p:sp>
        <p:nvSpPr>
          <p:cNvPr id="3" name="Bildplatzhalter 2">
            <a:extLst>
              <a:ext uri="{FF2B5EF4-FFF2-40B4-BE49-F238E27FC236}">
                <a16:creationId xmlns:a16="http://schemas.microsoft.com/office/drawing/2014/main" id="{16ED3A16-997A-7CF7-498C-2411BF7CBB7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platzhalter 3">
            <a:extLst>
              <a:ext uri="{FF2B5EF4-FFF2-40B4-BE49-F238E27FC236}">
                <a16:creationId xmlns:a16="http://schemas.microsoft.com/office/drawing/2014/main" id="{6CDB3338-5E0A-6C09-33C8-34227F6CB6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D713C932-ED4B-8C14-4A0C-6C89CE318DB4}"/>
              </a:ext>
            </a:extLst>
          </p:cNvPr>
          <p:cNvSpPr>
            <a:spLocks noGrp="1"/>
          </p:cNvSpPr>
          <p:nvPr>
            <p:ph type="dt" sz="half" idx="10"/>
          </p:nvPr>
        </p:nvSpPr>
        <p:spPr/>
        <p:txBody>
          <a:bodyPr/>
          <a:lstStyle/>
          <a:p>
            <a:fld id="{AF38A5F6-B34B-43EE-B781-BD695CF52CD6}" type="datetime8">
              <a:rPr lang="en-DE" smtClean="0"/>
              <a:t>25/02/2025 08:48</a:t>
            </a:fld>
            <a:endParaRPr lang="en-DE"/>
          </a:p>
        </p:txBody>
      </p:sp>
      <p:sp>
        <p:nvSpPr>
          <p:cNvPr id="6" name="Fußzeilenplatzhalter 5">
            <a:extLst>
              <a:ext uri="{FF2B5EF4-FFF2-40B4-BE49-F238E27FC236}">
                <a16:creationId xmlns:a16="http://schemas.microsoft.com/office/drawing/2014/main" id="{4DCD67A2-AFFB-3C1E-704C-AB98BCE90932}"/>
              </a:ext>
            </a:extLst>
          </p:cNvPr>
          <p:cNvSpPr>
            <a:spLocks noGrp="1"/>
          </p:cNvSpPr>
          <p:nvPr>
            <p:ph type="ftr" sz="quarter" idx="11"/>
          </p:nvPr>
        </p:nvSpPr>
        <p:spPr/>
        <p:txBody>
          <a:bodyPr/>
          <a:lstStyle/>
          <a:p>
            <a:endParaRPr lang="en-DE"/>
          </a:p>
        </p:txBody>
      </p:sp>
      <p:sp>
        <p:nvSpPr>
          <p:cNvPr id="7" name="Foliennummernplatzhalter 6">
            <a:extLst>
              <a:ext uri="{FF2B5EF4-FFF2-40B4-BE49-F238E27FC236}">
                <a16:creationId xmlns:a16="http://schemas.microsoft.com/office/drawing/2014/main" id="{4A2F810D-CD5A-A956-59D8-F48CA10FEE4B}"/>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1104901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0DE24F-93CF-2203-1A33-285642A02907}"/>
              </a:ext>
            </a:extLst>
          </p:cNvPr>
          <p:cNvSpPr>
            <a:spLocks noGrp="1"/>
          </p:cNvSpPr>
          <p:nvPr>
            <p:ph type="title"/>
          </p:nvPr>
        </p:nvSpPr>
        <p:spPr/>
        <p:txBody>
          <a:bodyPr/>
          <a:lstStyle/>
          <a:p>
            <a:r>
              <a:rPr lang="de-DE"/>
              <a:t>Mastertitelformat bearbeiten</a:t>
            </a:r>
            <a:endParaRPr lang="en-DE"/>
          </a:p>
        </p:txBody>
      </p:sp>
      <p:sp>
        <p:nvSpPr>
          <p:cNvPr id="3" name="Vertikaler Textplatzhalter 2">
            <a:extLst>
              <a:ext uri="{FF2B5EF4-FFF2-40B4-BE49-F238E27FC236}">
                <a16:creationId xmlns:a16="http://schemas.microsoft.com/office/drawing/2014/main" id="{3B40D3D4-5ECE-6581-7DBF-95CFA9C63CF2}"/>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18795F97-73B9-099F-8271-A2DB3C300232}"/>
              </a:ext>
            </a:extLst>
          </p:cNvPr>
          <p:cNvSpPr>
            <a:spLocks noGrp="1"/>
          </p:cNvSpPr>
          <p:nvPr>
            <p:ph type="dt" sz="half" idx="10"/>
          </p:nvPr>
        </p:nvSpPr>
        <p:spPr/>
        <p:txBody>
          <a:bodyPr/>
          <a:lstStyle/>
          <a:p>
            <a:fld id="{E56ABB03-3748-4F36-8CE3-7690DCE480EA}" type="datetime8">
              <a:rPr lang="en-DE" smtClean="0"/>
              <a:t>25/02/2025 08:48</a:t>
            </a:fld>
            <a:endParaRPr lang="en-DE"/>
          </a:p>
        </p:txBody>
      </p:sp>
      <p:sp>
        <p:nvSpPr>
          <p:cNvPr id="5" name="Fußzeilenplatzhalter 4">
            <a:extLst>
              <a:ext uri="{FF2B5EF4-FFF2-40B4-BE49-F238E27FC236}">
                <a16:creationId xmlns:a16="http://schemas.microsoft.com/office/drawing/2014/main" id="{814DD086-AFC6-BE0A-5964-BB41FF1BAED7}"/>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6F325DCD-7ABB-A3C5-DADD-497F3A3283F4}"/>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1971514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9E0FA4F8-3C07-CC33-C071-34E539FF7D61}"/>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en-DE"/>
          </a:p>
        </p:txBody>
      </p:sp>
      <p:sp>
        <p:nvSpPr>
          <p:cNvPr id="3" name="Vertikaler Textplatzhalter 2">
            <a:extLst>
              <a:ext uri="{FF2B5EF4-FFF2-40B4-BE49-F238E27FC236}">
                <a16:creationId xmlns:a16="http://schemas.microsoft.com/office/drawing/2014/main" id="{2D7C3D21-DF72-A57E-FE92-7B8EB9DE04A3}"/>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D7D6C93A-B20B-F311-ED1E-CD84E03D0713}"/>
              </a:ext>
            </a:extLst>
          </p:cNvPr>
          <p:cNvSpPr>
            <a:spLocks noGrp="1"/>
          </p:cNvSpPr>
          <p:nvPr>
            <p:ph type="dt" sz="half" idx="10"/>
          </p:nvPr>
        </p:nvSpPr>
        <p:spPr/>
        <p:txBody>
          <a:bodyPr/>
          <a:lstStyle/>
          <a:p>
            <a:fld id="{FDABE70B-30DF-4588-A660-16BBF78450FF}" type="datetime8">
              <a:rPr lang="en-DE" smtClean="0"/>
              <a:t>25/02/2025 08:48</a:t>
            </a:fld>
            <a:endParaRPr lang="en-DE"/>
          </a:p>
        </p:txBody>
      </p:sp>
      <p:sp>
        <p:nvSpPr>
          <p:cNvPr id="5" name="Fußzeilenplatzhalter 4">
            <a:extLst>
              <a:ext uri="{FF2B5EF4-FFF2-40B4-BE49-F238E27FC236}">
                <a16:creationId xmlns:a16="http://schemas.microsoft.com/office/drawing/2014/main" id="{D86FAFA5-5F5E-061D-DEDF-EB305821BB89}"/>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609C3EC1-3EA0-696D-8056-E555089F308D}"/>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41218648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71A23"/>
        </a:solidFill>
        <a:effectLst/>
      </p:bgPr>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59526A8E-3C6D-3304-B26F-B61C874D61C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DE"/>
          </a:p>
        </p:txBody>
      </p:sp>
      <p:sp>
        <p:nvSpPr>
          <p:cNvPr id="3" name="Textplatzhalter 2">
            <a:extLst>
              <a:ext uri="{FF2B5EF4-FFF2-40B4-BE49-F238E27FC236}">
                <a16:creationId xmlns:a16="http://schemas.microsoft.com/office/drawing/2014/main" id="{2A03073E-D816-564B-06F4-5084ABC030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FB3506FD-9515-EEEE-9754-47467AB4D38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A736AEE-DEB5-4176-83CB-90F4305997B3}" type="datetime8">
              <a:rPr lang="en-DE" smtClean="0"/>
              <a:t>25/02/2025 08:48</a:t>
            </a:fld>
            <a:endParaRPr lang="en-DE"/>
          </a:p>
        </p:txBody>
      </p:sp>
      <p:sp>
        <p:nvSpPr>
          <p:cNvPr id="5" name="Fußzeilenplatzhalter 4">
            <a:extLst>
              <a:ext uri="{FF2B5EF4-FFF2-40B4-BE49-F238E27FC236}">
                <a16:creationId xmlns:a16="http://schemas.microsoft.com/office/drawing/2014/main" id="{A2569899-9598-E995-0D80-845D26C72D9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E"/>
          </a:p>
        </p:txBody>
      </p:sp>
      <p:sp>
        <p:nvSpPr>
          <p:cNvPr id="6" name="Foliennummernplatzhalter 5">
            <a:extLst>
              <a:ext uri="{FF2B5EF4-FFF2-40B4-BE49-F238E27FC236}">
                <a16:creationId xmlns:a16="http://schemas.microsoft.com/office/drawing/2014/main" id="{AD92A933-6DFF-1223-1247-2E2DB3C3A3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118D7DC-84C5-45D3-BF8A-BA4205260971}" type="slidenum">
              <a:rPr lang="en-DE" smtClean="0"/>
              <a:t>‹Nr.›</a:t>
            </a:fld>
            <a:endParaRPr lang="en-DE"/>
          </a:p>
        </p:txBody>
      </p:sp>
    </p:spTree>
    <p:extLst>
      <p:ext uri="{BB962C8B-B14F-4D97-AF65-F5344CB8AC3E}">
        <p14:creationId xmlns:p14="http://schemas.microsoft.com/office/powerpoint/2010/main" val="1506608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7.png"/><Relationship Id="rId17" Type="http://schemas.openxmlformats.org/officeDocument/2006/relationships/image" Target="../media/image22.svg"/><Relationship Id="rId2" Type="http://schemas.openxmlformats.org/officeDocument/2006/relationships/image" Target="../media/image7.png"/><Relationship Id="rId16"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5" Type="http://schemas.openxmlformats.org/officeDocument/2006/relationships/image" Target="../media/image2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 Id="rId1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1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png"/><Relationship Id="rId7" Type="http://schemas.openxmlformats.org/officeDocument/2006/relationships/image" Target="../media/image36.png"/><Relationship Id="rId12" Type="http://schemas.openxmlformats.org/officeDocument/2006/relationships/image" Target="../media/image41.sv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svg"/><Relationship Id="rId11" Type="http://schemas.openxmlformats.org/officeDocument/2006/relationships/image" Target="../media/image40.png"/><Relationship Id="rId5" Type="http://schemas.openxmlformats.org/officeDocument/2006/relationships/image" Target="../media/image34.png"/><Relationship Id="rId10" Type="http://schemas.openxmlformats.org/officeDocument/2006/relationships/image" Target="../media/image39.svg"/><Relationship Id="rId4" Type="http://schemas.openxmlformats.org/officeDocument/2006/relationships/image" Target="../media/image33.png"/><Relationship Id="rId9" Type="http://schemas.openxmlformats.org/officeDocument/2006/relationships/image" Target="../media/image38.png"/></Relationships>
</file>

<file path=ppt/slides/_rels/slide2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descr="Ein Bild, das Bild, Riff, Kunst, Cartoon enthält.&#10;&#10;KI-generierte Inhalte können fehlerhaft sein.">
            <a:extLst>
              <a:ext uri="{FF2B5EF4-FFF2-40B4-BE49-F238E27FC236}">
                <a16:creationId xmlns:a16="http://schemas.microsoft.com/office/drawing/2014/main" id="{55BA5088-702B-634D-A47B-F9EB2A66EC8E}"/>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95250" y="7716"/>
            <a:ext cx="12001499" cy="6858000"/>
          </a:xfrm>
          <a:prstGeom prst="ellipse">
            <a:avLst/>
          </a:prstGeom>
          <a:ln>
            <a:noFill/>
          </a:ln>
          <a:effectLst>
            <a:softEdge rad="635000"/>
          </a:effectLst>
        </p:spPr>
      </p:pic>
      <p:pic>
        <p:nvPicPr>
          <p:cNvPr id="8" name="Grafik 7" descr="Ein Bild, das Handschrift, Schrift, Kalligrafie, Typografie enthält.">
            <a:extLst>
              <a:ext uri="{FF2B5EF4-FFF2-40B4-BE49-F238E27FC236}">
                <a16:creationId xmlns:a16="http://schemas.microsoft.com/office/drawing/2014/main" id="{6107A75A-0D21-2508-31D0-061090E97A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7625" y="1060518"/>
            <a:ext cx="5936750" cy="800990"/>
          </a:xfrm>
          <a:prstGeom prst="rect">
            <a:avLst/>
          </a:prstGeom>
        </p:spPr>
      </p:pic>
      <p:sp>
        <p:nvSpPr>
          <p:cNvPr id="2" name="Ellipse 1">
            <a:extLst>
              <a:ext uri="{FF2B5EF4-FFF2-40B4-BE49-F238E27FC236}">
                <a16:creationId xmlns:a16="http://schemas.microsoft.com/office/drawing/2014/main" id="{0B4C97F3-9445-7AB9-5DA8-A30D9AF5E00F}"/>
              </a:ext>
            </a:extLst>
          </p:cNvPr>
          <p:cNvSpPr/>
          <p:nvPr/>
        </p:nvSpPr>
        <p:spPr>
          <a:xfrm>
            <a:off x="4933950" y="2832718"/>
            <a:ext cx="2324100" cy="2393332"/>
          </a:xfrm>
          <a:prstGeom prst="ellipse">
            <a:avLst/>
          </a:prstGeom>
          <a:solidFill>
            <a:srgbClr val="171A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10" name="Grafik 9" descr="Ein Bild, das Feder, Cartoon, Vogel, Kunst enthält.&#10;&#10;KI-generierte Inhalte können fehlerhaft sein.">
            <a:extLst>
              <a:ext uri="{FF2B5EF4-FFF2-40B4-BE49-F238E27FC236}">
                <a16:creationId xmlns:a16="http://schemas.microsoft.com/office/drawing/2014/main" id="{9C2E7422-6360-4970-E2BF-03F33BA141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59770" y="2084166"/>
            <a:ext cx="3672460" cy="3649884"/>
          </a:xfrm>
          <a:prstGeom prst="rect">
            <a:avLst/>
          </a:prstGeom>
        </p:spPr>
      </p:pic>
      <p:sp>
        <p:nvSpPr>
          <p:cNvPr id="3" name="Foliennummernplatzhalter 2">
            <a:extLst>
              <a:ext uri="{FF2B5EF4-FFF2-40B4-BE49-F238E27FC236}">
                <a16:creationId xmlns:a16="http://schemas.microsoft.com/office/drawing/2014/main" id="{3C5CA3AF-73A8-568F-16F6-566D7507C966}"/>
              </a:ext>
            </a:extLst>
          </p:cNvPr>
          <p:cNvSpPr>
            <a:spLocks noGrp="1"/>
          </p:cNvSpPr>
          <p:nvPr>
            <p:ph type="sldNum" sz="quarter" idx="12"/>
          </p:nvPr>
        </p:nvSpPr>
        <p:spPr/>
        <p:txBody>
          <a:bodyPr/>
          <a:lstStyle/>
          <a:p>
            <a:fld id="{4118D7DC-84C5-45D3-BF8A-BA4205260971}" type="slidenum">
              <a:rPr lang="en-DE" smtClean="0"/>
              <a:t>1</a:t>
            </a:fld>
            <a:endParaRPr lang="en-DE"/>
          </a:p>
        </p:txBody>
      </p:sp>
    </p:spTree>
    <p:extLst>
      <p:ext uri="{BB962C8B-B14F-4D97-AF65-F5344CB8AC3E}">
        <p14:creationId xmlns:p14="http://schemas.microsoft.com/office/powerpoint/2010/main" val="23063567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9FB831-A182-11CE-D3EE-82C4A39CDDBA}"/>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Inhalt</a:t>
            </a:r>
            <a:endParaRPr lang="en-DE" sz="5400" b="1" dirty="0">
              <a:solidFill>
                <a:srgbClr val="7FB6D3"/>
              </a:solidFill>
              <a:latin typeface="Chiller" panose="04020404031007020602" pitchFamily="82" charset="0"/>
            </a:endParaRPr>
          </a:p>
        </p:txBody>
      </p:sp>
      <p:graphicFrame>
        <p:nvGraphicFramePr>
          <p:cNvPr id="4" name="Inhaltsplatzhalter 3">
            <a:extLst>
              <a:ext uri="{FF2B5EF4-FFF2-40B4-BE49-F238E27FC236}">
                <a16:creationId xmlns:a16="http://schemas.microsoft.com/office/drawing/2014/main" id="{2BCF05E3-7474-8D24-7998-FC11DEF3A79B}"/>
              </a:ext>
            </a:extLst>
          </p:cNvPr>
          <p:cNvGraphicFramePr>
            <a:graphicFrameLocks noGrp="1"/>
          </p:cNvGraphicFramePr>
          <p:nvPr>
            <p:ph idx="1"/>
            <p:extLst>
              <p:ext uri="{D42A27DB-BD31-4B8C-83A1-F6EECF244321}">
                <p14:modId xmlns:p14="http://schemas.microsoft.com/office/powerpoint/2010/main" val="33603691"/>
              </p:ext>
            </p:extLst>
          </p:nvPr>
        </p:nvGraphicFramePr>
        <p:xfrm>
          <a:off x="838200" y="1825625"/>
          <a:ext cx="4864585" cy="4212000"/>
        </p:xfrm>
        <a:graphic>
          <a:graphicData uri="http://schemas.openxmlformats.org/drawingml/2006/table">
            <a:tbl>
              <a:tblPr bandRow="1">
                <a:tableStyleId>{9D7B26C5-4107-4FEC-AEDC-1716B250A1EF}</a:tableStyleId>
              </a:tblPr>
              <a:tblGrid>
                <a:gridCol w="3630048">
                  <a:extLst>
                    <a:ext uri="{9D8B030D-6E8A-4147-A177-3AD203B41FA5}">
                      <a16:colId xmlns:a16="http://schemas.microsoft.com/office/drawing/2014/main" val="2898369813"/>
                    </a:ext>
                  </a:extLst>
                </a:gridCol>
                <a:gridCol w="1234537">
                  <a:extLst>
                    <a:ext uri="{9D8B030D-6E8A-4147-A177-3AD203B41FA5}">
                      <a16:colId xmlns:a16="http://schemas.microsoft.com/office/drawing/2014/main" val="1078347682"/>
                    </a:ext>
                  </a:extLst>
                </a:gridCol>
              </a:tblGrid>
              <a:tr h="468000">
                <a:tc>
                  <a:txBody>
                    <a:bodyPr/>
                    <a:lstStyle/>
                    <a:p>
                      <a:pPr algn="l"/>
                      <a:r>
                        <a:rPr lang="de-DE" sz="2000" dirty="0">
                          <a:solidFill>
                            <a:srgbClr val="7FB6D3"/>
                          </a:solidFill>
                        </a:rPr>
                        <a:t>Ziel und Motivation</a:t>
                      </a:r>
                      <a:endParaRPr lang="en-DE" sz="2000" dirty="0">
                        <a:solidFill>
                          <a:srgbClr val="7FB6D3"/>
                        </a:solidFill>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2000" dirty="0">
                          <a:solidFill>
                            <a:schemeClr val="bg2">
                              <a:lumMod val="50000"/>
                            </a:schemeClr>
                          </a:solidFill>
                        </a:rPr>
                        <a:t>3</a:t>
                      </a:r>
                      <a:endParaRPr lang="en-DE" sz="2000" dirty="0">
                        <a:solidFill>
                          <a:schemeClr val="bg2">
                            <a:lumMod val="50000"/>
                          </a:schemeClr>
                        </a:solidFill>
                      </a:endParaRPr>
                    </a:p>
                  </a:txBody>
                  <a:tcPr anchor="ctr"/>
                </a:tc>
                <a:extLst>
                  <a:ext uri="{0D108BD9-81ED-4DB2-BD59-A6C34878D82A}">
                    <a16:rowId xmlns:a16="http://schemas.microsoft.com/office/drawing/2014/main" val="2681991218"/>
                  </a:ext>
                </a:extLst>
              </a:tr>
              <a:tr h="468000">
                <a:tc>
                  <a:txBody>
                    <a:bodyPr/>
                    <a:lstStyle/>
                    <a:p>
                      <a:pPr algn="l"/>
                      <a:r>
                        <a:rPr lang="de-DE" sz="2000" dirty="0">
                          <a:solidFill>
                            <a:srgbClr val="7FB6D3"/>
                          </a:solidFill>
                        </a:rPr>
                        <a:t>Core Features</a:t>
                      </a:r>
                      <a:endParaRPr lang="en-DE" sz="2000" dirty="0">
                        <a:solidFill>
                          <a:srgbClr val="7FB6D3"/>
                        </a:solidFill>
                      </a:endParaRPr>
                    </a:p>
                  </a:txBody>
                  <a:tcPr anchor="ctr"/>
                </a:tc>
                <a:tc>
                  <a:txBody>
                    <a:bodyPr/>
                    <a:lstStyle/>
                    <a:p>
                      <a:pPr algn="r"/>
                      <a:r>
                        <a:rPr lang="de-DE" sz="2000" dirty="0">
                          <a:solidFill>
                            <a:schemeClr val="bg2">
                              <a:lumMod val="50000"/>
                            </a:schemeClr>
                          </a:solidFill>
                        </a:rPr>
                        <a:t>4</a:t>
                      </a:r>
                      <a:endParaRPr lang="en-DE" sz="2000" dirty="0">
                        <a:solidFill>
                          <a:schemeClr val="bg2">
                            <a:lumMod val="50000"/>
                          </a:schemeClr>
                        </a:solidFill>
                      </a:endParaRPr>
                    </a:p>
                  </a:txBody>
                  <a:tcPr anchor="ctr"/>
                </a:tc>
                <a:extLst>
                  <a:ext uri="{0D108BD9-81ED-4DB2-BD59-A6C34878D82A}">
                    <a16:rowId xmlns:a16="http://schemas.microsoft.com/office/drawing/2014/main" val="1061043480"/>
                  </a:ext>
                </a:extLst>
              </a:tr>
              <a:tr h="468000">
                <a:tc>
                  <a:txBody>
                    <a:bodyPr/>
                    <a:lstStyle/>
                    <a:p>
                      <a:pPr algn="l"/>
                      <a:r>
                        <a:rPr lang="de-DE" sz="2000" dirty="0">
                          <a:solidFill>
                            <a:srgbClr val="7FB6D3"/>
                          </a:solidFill>
                        </a:rPr>
                        <a:t>Game Features</a:t>
                      </a:r>
                      <a:endParaRPr lang="en-DE" sz="2000" dirty="0">
                        <a:solidFill>
                          <a:srgbClr val="7FB6D3"/>
                        </a:solidFill>
                      </a:endParaRPr>
                    </a:p>
                  </a:txBody>
                  <a:tcPr anchor="ctr"/>
                </a:tc>
                <a:tc>
                  <a:txBody>
                    <a:bodyPr/>
                    <a:lstStyle/>
                    <a:p>
                      <a:pPr algn="r"/>
                      <a:r>
                        <a:rPr lang="de-DE" sz="2000" dirty="0">
                          <a:solidFill>
                            <a:schemeClr val="bg2">
                              <a:lumMod val="50000"/>
                            </a:schemeClr>
                          </a:solidFill>
                        </a:rPr>
                        <a:t>5</a:t>
                      </a:r>
                      <a:endParaRPr lang="en-DE" sz="2000" dirty="0">
                        <a:solidFill>
                          <a:schemeClr val="bg2">
                            <a:lumMod val="50000"/>
                          </a:schemeClr>
                        </a:solidFill>
                      </a:endParaRPr>
                    </a:p>
                  </a:txBody>
                  <a:tcPr anchor="ctr"/>
                </a:tc>
                <a:extLst>
                  <a:ext uri="{0D108BD9-81ED-4DB2-BD59-A6C34878D82A}">
                    <a16:rowId xmlns:a16="http://schemas.microsoft.com/office/drawing/2014/main" val="1559115112"/>
                  </a:ext>
                </a:extLst>
              </a:tr>
              <a:tr h="468000">
                <a:tc>
                  <a:txBody>
                    <a:bodyPr/>
                    <a:lstStyle/>
                    <a:p>
                      <a:pPr algn="l"/>
                      <a:r>
                        <a:rPr lang="de-DE" sz="2000" dirty="0">
                          <a:solidFill>
                            <a:srgbClr val="7FB6D3"/>
                          </a:solidFill>
                        </a:rPr>
                        <a:t>Story</a:t>
                      </a:r>
                      <a:endParaRPr lang="en-DE" sz="2000" dirty="0">
                        <a:solidFill>
                          <a:srgbClr val="7FB6D3"/>
                        </a:solidFill>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000" kern="1200" dirty="0">
                          <a:solidFill>
                            <a:schemeClr val="bg2">
                              <a:lumMod val="50000"/>
                            </a:schemeClr>
                          </a:solidFill>
                          <a:latin typeface="+mn-lt"/>
                          <a:ea typeface="+mn-ea"/>
                          <a:cs typeface="+mn-cs"/>
                        </a:rPr>
                        <a:t>6</a:t>
                      </a:r>
                    </a:p>
                  </a:txBody>
                  <a:tcPr anchor="ctr"/>
                </a:tc>
                <a:extLst>
                  <a:ext uri="{0D108BD9-81ED-4DB2-BD59-A6C34878D82A}">
                    <a16:rowId xmlns:a16="http://schemas.microsoft.com/office/drawing/2014/main" val="478431714"/>
                  </a:ext>
                </a:extLst>
              </a:tr>
              <a:tr h="468000">
                <a:tc>
                  <a:txBody>
                    <a:bodyPr/>
                    <a:lstStyle/>
                    <a:p>
                      <a:pPr algn="l"/>
                      <a:r>
                        <a:rPr lang="de-DE" sz="2000" dirty="0">
                          <a:solidFill>
                            <a:srgbClr val="7FB6D3"/>
                          </a:solidFill>
                        </a:rPr>
                        <a:t>Die Welt</a:t>
                      </a:r>
                      <a:endParaRPr lang="en-DE" sz="2000" dirty="0">
                        <a:solidFill>
                          <a:srgbClr val="7FB6D3"/>
                        </a:solidFill>
                      </a:endParaRPr>
                    </a:p>
                  </a:txBody>
                  <a:tcPr anchor="ctr"/>
                </a:tc>
                <a:tc>
                  <a:txBody>
                    <a:bodyPr/>
                    <a:lstStyle/>
                    <a:p>
                      <a:pPr algn="r"/>
                      <a:r>
                        <a:rPr lang="de-DE" sz="2000" dirty="0">
                          <a:solidFill>
                            <a:schemeClr val="bg2">
                              <a:lumMod val="50000"/>
                            </a:schemeClr>
                          </a:solidFill>
                        </a:rPr>
                        <a:t>7</a:t>
                      </a:r>
                      <a:endParaRPr lang="en-DE" sz="2000" dirty="0">
                        <a:solidFill>
                          <a:schemeClr val="bg2">
                            <a:lumMod val="50000"/>
                          </a:schemeClr>
                        </a:solidFill>
                      </a:endParaRPr>
                    </a:p>
                  </a:txBody>
                  <a:tcPr anchor="ctr"/>
                </a:tc>
                <a:extLst>
                  <a:ext uri="{0D108BD9-81ED-4DB2-BD59-A6C34878D82A}">
                    <a16:rowId xmlns:a16="http://schemas.microsoft.com/office/drawing/2014/main" val="959843978"/>
                  </a:ext>
                </a:extLst>
              </a:tr>
              <a:tr h="468000">
                <a:tc>
                  <a:txBody>
                    <a:bodyPr/>
                    <a:lstStyle/>
                    <a:p>
                      <a:pPr algn="l"/>
                      <a:r>
                        <a:rPr lang="de-DE" sz="2000" dirty="0">
                          <a:solidFill>
                            <a:srgbClr val="7FB6D3"/>
                          </a:solidFill>
                        </a:rPr>
                        <a:t>Layout</a:t>
                      </a:r>
                      <a:endParaRPr lang="en-DE" sz="2000" dirty="0">
                        <a:solidFill>
                          <a:srgbClr val="7FB6D3"/>
                        </a:solidFill>
                      </a:endParaRPr>
                    </a:p>
                  </a:txBody>
                  <a:tcPr anchor="ctr"/>
                </a:tc>
                <a:tc>
                  <a:txBody>
                    <a:bodyPr/>
                    <a:lstStyle/>
                    <a:p>
                      <a:pPr algn="r"/>
                      <a:r>
                        <a:rPr lang="de-DE" sz="2000" dirty="0">
                          <a:solidFill>
                            <a:schemeClr val="bg2">
                              <a:lumMod val="50000"/>
                            </a:schemeClr>
                          </a:solidFill>
                        </a:rPr>
                        <a:t>8</a:t>
                      </a:r>
                      <a:endParaRPr lang="en-DE" sz="2000" dirty="0">
                        <a:solidFill>
                          <a:schemeClr val="bg2">
                            <a:lumMod val="50000"/>
                          </a:schemeClr>
                        </a:solidFill>
                      </a:endParaRPr>
                    </a:p>
                  </a:txBody>
                  <a:tcPr anchor="ctr"/>
                </a:tc>
                <a:extLst>
                  <a:ext uri="{0D108BD9-81ED-4DB2-BD59-A6C34878D82A}">
                    <a16:rowId xmlns:a16="http://schemas.microsoft.com/office/drawing/2014/main" val="1528620227"/>
                  </a:ext>
                </a:extLst>
              </a:tr>
              <a:tr h="468000">
                <a:tc>
                  <a:txBody>
                    <a:bodyPr/>
                    <a:lstStyle/>
                    <a:p>
                      <a:pPr algn="l"/>
                      <a:r>
                        <a:rPr lang="de-DE" sz="2000" dirty="0">
                          <a:solidFill>
                            <a:srgbClr val="7FB6D3"/>
                          </a:solidFill>
                        </a:rPr>
                        <a:t>Aufbau des Projektes</a:t>
                      </a:r>
                      <a:endParaRPr lang="en-DE" sz="2000" dirty="0">
                        <a:solidFill>
                          <a:srgbClr val="7FB6D3"/>
                        </a:solidFill>
                      </a:endParaRPr>
                    </a:p>
                  </a:txBody>
                  <a:tcPr anchor="ctr"/>
                </a:tc>
                <a:tc>
                  <a:txBody>
                    <a:bodyPr/>
                    <a:lstStyle/>
                    <a:p>
                      <a:pPr algn="r"/>
                      <a:r>
                        <a:rPr lang="de-DE" sz="2000" dirty="0">
                          <a:solidFill>
                            <a:schemeClr val="bg2">
                              <a:lumMod val="50000"/>
                            </a:schemeClr>
                          </a:solidFill>
                        </a:rPr>
                        <a:t>9</a:t>
                      </a:r>
                      <a:endParaRPr lang="en-DE" sz="2000" dirty="0">
                        <a:solidFill>
                          <a:schemeClr val="bg2">
                            <a:lumMod val="50000"/>
                          </a:schemeClr>
                        </a:solidFill>
                      </a:endParaRPr>
                    </a:p>
                  </a:txBody>
                  <a:tcPr anchor="ctr"/>
                </a:tc>
                <a:extLst>
                  <a:ext uri="{0D108BD9-81ED-4DB2-BD59-A6C34878D82A}">
                    <a16:rowId xmlns:a16="http://schemas.microsoft.com/office/drawing/2014/main" val="3372371184"/>
                  </a:ext>
                </a:extLst>
              </a:tr>
              <a:tr h="468000">
                <a:tc>
                  <a:txBody>
                    <a:bodyPr/>
                    <a:lstStyle/>
                    <a:p>
                      <a:pPr algn="l"/>
                      <a:r>
                        <a:rPr lang="de-DE" sz="2000" dirty="0">
                          <a:solidFill>
                            <a:srgbClr val="7FB6D3"/>
                          </a:solidFill>
                        </a:rPr>
                        <a:t>Aufbau eines Ortes</a:t>
                      </a:r>
                      <a:endParaRPr lang="en-DE" sz="2000" dirty="0">
                        <a:solidFill>
                          <a:srgbClr val="7FB6D3"/>
                        </a:solidFill>
                      </a:endParaRPr>
                    </a:p>
                  </a:txBody>
                  <a:tcPr anchor="ctr"/>
                </a:tc>
                <a:tc>
                  <a:txBody>
                    <a:bodyPr/>
                    <a:lstStyle/>
                    <a:p>
                      <a:pPr algn="r"/>
                      <a:r>
                        <a:rPr lang="de-DE" sz="2000" dirty="0">
                          <a:solidFill>
                            <a:schemeClr val="bg2">
                              <a:lumMod val="50000"/>
                            </a:schemeClr>
                          </a:solidFill>
                        </a:rPr>
                        <a:t>10 </a:t>
                      </a:r>
                      <a:endParaRPr lang="en-DE" sz="2000" dirty="0">
                        <a:solidFill>
                          <a:schemeClr val="bg2">
                            <a:lumMod val="50000"/>
                          </a:schemeClr>
                        </a:solidFill>
                      </a:endParaRPr>
                    </a:p>
                  </a:txBody>
                  <a:tcPr anchor="ctr"/>
                </a:tc>
                <a:extLst>
                  <a:ext uri="{0D108BD9-81ED-4DB2-BD59-A6C34878D82A}">
                    <a16:rowId xmlns:a16="http://schemas.microsoft.com/office/drawing/2014/main" val="17583894"/>
                  </a:ext>
                </a:extLst>
              </a:tr>
              <a:tr h="468000">
                <a:tc>
                  <a:txBody>
                    <a:bodyPr/>
                    <a:lstStyle/>
                    <a:p>
                      <a:pPr algn="l"/>
                      <a:r>
                        <a:rPr lang="de-DE" sz="2000" dirty="0">
                          <a:solidFill>
                            <a:srgbClr val="7FB6D3"/>
                          </a:solidFill>
                        </a:rPr>
                        <a:t>Templates</a:t>
                      </a:r>
                      <a:endParaRPr lang="en-DE" sz="2000" dirty="0">
                        <a:solidFill>
                          <a:srgbClr val="7FB6D3"/>
                        </a:solidFill>
                      </a:endParaRPr>
                    </a:p>
                  </a:txBody>
                  <a:tcPr anchor="ctr"/>
                </a:tc>
                <a:tc>
                  <a:txBody>
                    <a:bodyPr/>
                    <a:lstStyle/>
                    <a:p>
                      <a:pPr algn="r"/>
                      <a:r>
                        <a:rPr lang="de-DE" sz="2000" dirty="0">
                          <a:solidFill>
                            <a:schemeClr val="bg2">
                              <a:lumMod val="50000"/>
                            </a:schemeClr>
                          </a:solidFill>
                        </a:rPr>
                        <a:t>11</a:t>
                      </a:r>
                      <a:endParaRPr lang="en-DE" sz="2000" dirty="0">
                        <a:solidFill>
                          <a:schemeClr val="bg2">
                            <a:lumMod val="50000"/>
                          </a:schemeClr>
                        </a:solidFill>
                      </a:endParaRPr>
                    </a:p>
                  </a:txBody>
                  <a:tcPr anchor="ctr"/>
                </a:tc>
                <a:extLst>
                  <a:ext uri="{0D108BD9-81ED-4DB2-BD59-A6C34878D82A}">
                    <a16:rowId xmlns:a16="http://schemas.microsoft.com/office/drawing/2014/main" val="3175529813"/>
                  </a:ext>
                </a:extLst>
              </a:tr>
            </a:tbl>
          </a:graphicData>
        </a:graphic>
      </p:graphicFrame>
      <p:sp>
        <p:nvSpPr>
          <p:cNvPr id="3" name="Foliennummernplatzhalter 2">
            <a:extLst>
              <a:ext uri="{FF2B5EF4-FFF2-40B4-BE49-F238E27FC236}">
                <a16:creationId xmlns:a16="http://schemas.microsoft.com/office/drawing/2014/main" id="{1BD46319-DE8A-F691-C6D6-1E59B4689A23}"/>
              </a:ext>
            </a:extLst>
          </p:cNvPr>
          <p:cNvSpPr>
            <a:spLocks noGrp="1"/>
          </p:cNvSpPr>
          <p:nvPr>
            <p:ph type="sldNum" sz="quarter" idx="12"/>
          </p:nvPr>
        </p:nvSpPr>
        <p:spPr/>
        <p:txBody>
          <a:bodyPr/>
          <a:lstStyle/>
          <a:p>
            <a:fld id="{4118D7DC-84C5-45D3-BF8A-BA4205260971}" type="slidenum">
              <a:rPr lang="en-DE" smtClean="0"/>
              <a:t>2</a:t>
            </a:fld>
            <a:endParaRPr lang="en-DE"/>
          </a:p>
        </p:txBody>
      </p:sp>
      <p:graphicFrame>
        <p:nvGraphicFramePr>
          <p:cNvPr id="5" name="Inhaltsplatzhalter 3">
            <a:extLst>
              <a:ext uri="{FF2B5EF4-FFF2-40B4-BE49-F238E27FC236}">
                <a16:creationId xmlns:a16="http://schemas.microsoft.com/office/drawing/2014/main" id="{0CBB31BC-D469-9BEB-D597-F84AA20BCEC5}"/>
              </a:ext>
            </a:extLst>
          </p:cNvPr>
          <p:cNvGraphicFramePr>
            <a:graphicFrameLocks/>
          </p:cNvGraphicFramePr>
          <p:nvPr>
            <p:extLst>
              <p:ext uri="{D42A27DB-BD31-4B8C-83A1-F6EECF244321}">
                <p14:modId xmlns:p14="http://schemas.microsoft.com/office/powerpoint/2010/main" val="1315266373"/>
              </p:ext>
            </p:extLst>
          </p:nvPr>
        </p:nvGraphicFramePr>
        <p:xfrm>
          <a:off x="6489214" y="1825625"/>
          <a:ext cx="4864586" cy="4212000"/>
        </p:xfrm>
        <a:graphic>
          <a:graphicData uri="http://schemas.openxmlformats.org/drawingml/2006/table">
            <a:tbl>
              <a:tblPr bandRow="1">
                <a:tableStyleId>{9D7B26C5-4107-4FEC-AEDC-1716B250A1EF}</a:tableStyleId>
              </a:tblPr>
              <a:tblGrid>
                <a:gridCol w="3327497">
                  <a:extLst>
                    <a:ext uri="{9D8B030D-6E8A-4147-A177-3AD203B41FA5}">
                      <a16:colId xmlns:a16="http://schemas.microsoft.com/office/drawing/2014/main" val="2898369813"/>
                    </a:ext>
                  </a:extLst>
                </a:gridCol>
                <a:gridCol w="1537089">
                  <a:extLst>
                    <a:ext uri="{9D8B030D-6E8A-4147-A177-3AD203B41FA5}">
                      <a16:colId xmlns:a16="http://schemas.microsoft.com/office/drawing/2014/main" val="80937160"/>
                    </a:ext>
                  </a:extLst>
                </a:gridCol>
              </a:tblGrid>
              <a:tr h="46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000" dirty="0">
                          <a:solidFill>
                            <a:srgbClr val="7FB6D3"/>
                          </a:solidFill>
                        </a:rPr>
                        <a:t>Routing</a:t>
                      </a:r>
                      <a:endParaRPr lang="en-DE" sz="2000" dirty="0">
                        <a:solidFill>
                          <a:srgbClr val="7FB6D3"/>
                        </a:solidFill>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2000" dirty="0">
                          <a:solidFill>
                            <a:schemeClr val="bg2">
                              <a:lumMod val="50000"/>
                            </a:schemeClr>
                          </a:solidFill>
                        </a:rPr>
                        <a:t>12</a:t>
                      </a:r>
                      <a:endParaRPr lang="en-DE" sz="2000" dirty="0">
                        <a:solidFill>
                          <a:schemeClr val="bg2">
                            <a:lumMod val="50000"/>
                          </a:schemeClr>
                        </a:solidFill>
                      </a:endParaRPr>
                    </a:p>
                  </a:txBody>
                  <a:tcPr anchor="ctr"/>
                </a:tc>
                <a:extLst>
                  <a:ext uri="{0D108BD9-81ED-4DB2-BD59-A6C34878D82A}">
                    <a16:rowId xmlns:a16="http://schemas.microsoft.com/office/drawing/2014/main" val="2681991218"/>
                  </a:ext>
                </a:extLst>
              </a:tr>
              <a:tr h="468000">
                <a:tc>
                  <a:txBody>
                    <a:bodyPr/>
                    <a:lstStyle/>
                    <a:p>
                      <a:pPr algn="l"/>
                      <a:r>
                        <a:rPr lang="de-DE" sz="2000" dirty="0">
                          <a:solidFill>
                            <a:srgbClr val="7FB6D3"/>
                          </a:solidFill>
                        </a:rPr>
                        <a:t>Events</a:t>
                      </a:r>
                      <a:endParaRPr lang="en-DE" sz="2000" dirty="0">
                        <a:solidFill>
                          <a:srgbClr val="7FB6D3"/>
                        </a:solidFill>
                      </a:endParaRPr>
                    </a:p>
                  </a:txBody>
                  <a:tcPr anchor="ctr"/>
                </a:tc>
                <a:tc>
                  <a:txBody>
                    <a:bodyPr/>
                    <a:lstStyle/>
                    <a:p>
                      <a:pPr algn="r"/>
                      <a:r>
                        <a:rPr lang="de-DE" sz="2000" dirty="0">
                          <a:solidFill>
                            <a:schemeClr val="bg2">
                              <a:lumMod val="50000"/>
                            </a:schemeClr>
                          </a:solidFill>
                        </a:rPr>
                        <a:t>13</a:t>
                      </a:r>
                      <a:endParaRPr lang="en-DE" sz="2000" dirty="0">
                        <a:solidFill>
                          <a:schemeClr val="bg2">
                            <a:lumMod val="50000"/>
                          </a:schemeClr>
                        </a:solidFill>
                      </a:endParaRPr>
                    </a:p>
                  </a:txBody>
                  <a:tcPr anchor="ctr"/>
                </a:tc>
                <a:extLst>
                  <a:ext uri="{0D108BD9-81ED-4DB2-BD59-A6C34878D82A}">
                    <a16:rowId xmlns:a16="http://schemas.microsoft.com/office/drawing/2014/main" val="1061043480"/>
                  </a:ext>
                </a:extLst>
              </a:tr>
              <a:tr h="468000">
                <a:tc>
                  <a:txBody>
                    <a:bodyPr/>
                    <a:lstStyle/>
                    <a:p>
                      <a:pPr algn="l"/>
                      <a:r>
                        <a:rPr lang="de-DE" sz="2000" dirty="0">
                          <a:solidFill>
                            <a:srgbClr val="7FB6D3"/>
                          </a:solidFill>
                        </a:rPr>
                        <a:t>Quests</a:t>
                      </a:r>
                      <a:endParaRPr lang="en-DE" sz="2000" dirty="0">
                        <a:solidFill>
                          <a:srgbClr val="7FB6D3"/>
                        </a:solidFill>
                      </a:endParaRPr>
                    </a:p>
                  </a:txBody>
                  <a:tcPr anchor="ctr"/>
                </a:tc>
                <a:tc>
                  <a:txBody>
                    <a:bodyPr/>
                    <a:lstStyle/>
                    <a:p>
                      <a:pPr algn="r"/>
                      <a:r>
                        <a:rPr lang="de-DE" sz="2000" dirty="0">
                          <a:solidFill>
                            <a:schemeClr val="bg2">
                              <a:lumMod val="50000"/>
                            </a:schemeClr>
                          </a:solidFill>
                        </a:rPr>
                        <a:t>14</a:t>
                      </a:r>
                      <a:endParaRPr lang="en-DE" sz="2000" dirty="0">
                        <a:solidFill>
                          <a:schemeClr val="bg2">
                            <a:lumMod val="50000"/>
                          </a:schemeClr>
                        </a:solidFill>
                      </a:endParaRPr>
                    </a:p>
                  </a:txBody>
                  <a:tcPr anchor="ctr"/>
                </a:tc>
                <a:extLst>
                  <a:ext uri="{0D108BD9-81ED-4DB2-BD59-A6C34878D82A}">
                    <a16:rowId xmlns:a16="http://schemas.microsoft.com/office/drawing/2014/main" val="1559115112"/>
                  </a:ext>
                </a:extLst>
              </a:tr>
              <a:tr h="46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kern="1200" dirty="0">
                          <a:solidFill>
                            <a:srgbClr val="7FB6D3"/>
                          </a:solidFill>
                          <a:latin typeface="+mn-lt"/>
                          <a:ea typeface="+mn-ea"/>
                          <a:cs typeface="+mn-cs"/>
                        </a:rPr>
                        <a:t>Kampf</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000" kern="1200" dirty="0">
                          <a:solidFill>
                            <a:schemeClr val="bg2">
                              <a:lumMod val="50000"/>
                            </a:schemeClr>
                          </a:solidFill>
                          <a:latin typeface="+mn-lt"/>
                          <a:ea typeface="+mn-ea"/>
                          <a:cs typeface="+mn-cs"/>
                        </a:rPr>
                        <a:t>15</a:t>
                      </a:r>
                    </a:p>
                  </a:txBody>
                  <a:tcPr anchor="ctr"/>
                </a:tc>
                <a:extLst>
                  <a:ext uri="{0D108BD9-81ED-4DB2-BD59-A6C34878D82A}">
                    <a16:rowId xmlns:a16="http://schemas.microsoft.com/office/drawing/2014/main" val="478431714"/>
                  </a:ext>
                </a:extLst>
              </a:tr>
              <a:tr h="468000">
                <a:tc>
                  <a:txBody>
                    <a:bodyPr/>
                    <a:lstStyle/>
                    <a:p>
                      <a:pPr algn="l"/>
                      <a:r>
                        <a:rPr lang="de-DE" sz="2000" dirty="0">
                          <a:solidFill>
                            <a:srgbClr val="7FB6D3"/>
                          </a:solidFill>
                        </a:rPr>
                        <a:t>Items und Buffs</a:t>
                      </a:r>
                      <a:endParaRPr lang="en-DE" sz="2000" dirty="0">
                        <a:solidFill>
                          <a:srgbClr val="7FB6D3"/>
                        </a:solidFill>
                      </a:endParaRPr>
                    </a:p>
                  </a:txBody>
                  <a:tcPr anchor="ctr"/>
                </a:tc>
                <a:tc>
                  <a:txBody>
                    <a:bodyPr/>
                    <a:lstStyle/>
                    <a:p>
                      <a:pPr algn="r"/>
                      <a:r>
                        <a:rPr lang="de-DE" sz="2000" dirty="0">
                          <a:solidFill>
                            <a:schemeClr val="bg2">
                              <a:lumMod val="50000"/>
                            </a:schemeClr>
                          </a:solidFill>
                        </a:rPr>
                        <a:t>16</a:t>
                      </a:r>
                      <a:endParaRPr lang="en-DE" sz="2000" dirty="0">
                        <a:solidFill>
                          <a:schemeClr val="bg2">
                            <a:lumMod val="50000"/>
                          </a:schemeClr>
                        </a:solidFill>
                      </a:endParaRPr>
                    </a:p>
                  </a:txBody>
                  <a:tcPr anchor="ctr"/>
                </a:tc>
                <a:extLst>
                  <a:ext uri="{0D108BD9-81ED-4DB2-BD59-A6C34878D82A}">
                    <a16:rowId xmlns:a16="http://schemas.microsoft.com/office/drawing/2014/main" val="959843978"/>
                  </a:ext>
                </a:extLst>
              </a:tr>
              <a:tr h="468000">
                <a:tc>
                  <a:txBody>
                    <a:bodyPr/>
                    <a:lstStyle/>
                    <a:p>
                      <a:pPr algn="l"/>
                      <a:r>
                        <a:rPr lang="de-DE" sz="2000" dirty="0">
                          <a:solidFill>
                            <a:srgbClr val="7FB6D3"/>
                          </a:solidFill>
                        </a:rPr>
                        <a:t>Store</a:t>
                      </a:r>
                      <a:endParaRPr lang="en-DE" sz="2000" dirty="0">
                        <a:solidFill>
                          <a:srgbClr val="7FB6D3"/>
                        </a:solidFill>
                      </a:endParaRPr>
                    </a:p>
                  </a:txBody>
                  <a:tcPr anchor="ctr"/>
                </a:tc>
                <a:tc>
                  <a:txBody>
                    <a:bodyPr/>
                    <a:lstStyle/>
                    <a:p>
                      <a:pPr algn="r"/>
                      <a:r>
                        <a:rPr lang="de-DE" sz="2000" dirty="0">
                          <a:solidFill>
                            <a:schemeClr val="bg2">
                              <a:lumMod val="50000"/>
                            </a:schemeClr>
                          </a:solidFill>
                        </a:rPr>
                        <a:t>17</a:t>
                      </a:r>
                      <a:endParaRPr lang="en-DE" sz="2000" dirty="0">
                        <a:solidFill>
                          <a:schemeClr val="bg2">
                            <a:lumMod val="50000"/>
                          </a:schemeClr>
                        </a:solidFill>
                      </a:endParaRPr>
                    </a:p>
                  </a:txBody>
                  <a:tcPr anchor="ctr"/>
                </a:tc>
                <a:extLst>
                  <a:ext uri="{0D108BD9-81ED-4DB2-BD59-A6C34878D82A}">
                    <a16:rowId xmlns:a16="http://schemas.microsoft.com/office/drawing/2014/main" val="1528620227"/>
                  </a:ext>
                </a:extLst>
              </a:tr>
              <a:tr h="468000">
                <a:tc>
                  <a:txBody>
                    <a:bodyPr/>
                    <a:lstStyle/>
                    <a:p>
                      <a:pPr algn="l"/>
                      <a:r>
                        <a:rPr lang="de-DE" sz="2000" dirty="0">
                          <a:solidFill>
                            <a:srgbClr val="7FB6D3"/>
                          </a:solidFill>
                        </a:rPr>
                        <a:t>Veröffentlichen</a:t>
                      </a:r>
                      <a:endParaRPr lang="en-DE" sz="2000" dirty="0">
                        <a:solidFill>
                          <a:srgbClr val="7FB6D3"/>
                        </a:solidFill>
                      </a:endParaRPr>
                    </a:p>
                  </a:txBody>
                  <a:tcPr anchor="ctr"/>
                </a:tc>
                <a:tc>
                  <a:txBody>
                    <a:bodyPr/>
                    <a:lstStyle/>
                    <a:p>
                      <a:pPr algn="r"/>
                      <a:r>
                        <a:rPr lang="de-DE" sz="2000" dirty="0">
                          <a:solidFill>
                            <a:schemeClr val="bg2">
                              <a:lumMod val="50000"/>
                            </a:schemeClr>
                          </a:solidFill>
                        </a:rPr>
                        <a:t>18</a:t>
                      </a:r>
                      <a:endParaRPr lang="en-DE" sz="2000" dirty="0">
                        <a:solidFill>
                          <a:schemeClr val="bg2">
                            <a:lumMod val="50000"/>
                          </a:schemeClr>
                        </a:solidFill>
                      </a:endParaRPr>
                    </a:p>
                  </a:txBody>
                  <a:tcPr anchor="ctr"/>
                </a:tc>
                <a:extLst>
                  <a:ext uri="{0D108BD9-81ED-4DB2-BD59-A6C34878D82A}">
                    <a16:rowId xmlns:a16="http://schemas.microsoft.com/office/drawing/2014/main" val="3372371184"/>
                  </a:ext>
                </a:extLst>
              </a:tr>
              <a:tr h="468000">
                <a:tc>
                  <a:txBody>
                    <a:bodyPr/>
                    <a:lstStyle/>
                    <a:p>
                      <a:pPr algn="l"/>
                      <a:r>
                        <a:rPr lang="de-DE" sz="2000" dirty="0">
                          <a:solidFill>
                            <a:srgbClr val="7FB6D3"/>
                          </a:solidFill>
                        </a:rPr>
                        <a:t>Danach </a:t>
                      </a:r>
                      <a:endParaRPr lang="en-DE" sz="2000" dirty="0">
                        <a:solidFill>
                          <a:srgbClr val="7FB6D3"/>
                        </a:solidFill>
                      </a:endParaRPr>
                    </a:p>
                  </a:txBody>
                  <a:tcPr anchor="ctr"/>
                </a:tc>
                <a:tc>
                  <a:txBody>
                    <a:bodyPr/>
                    <a:lstStyle/>
                    <a:p>
                      <a:pPr algn="r"/>
                      <a:r>
                        <a:rPr lang="de-DE" sz="2000" dirty="0">
                          <a:solidFill>
                            <a:schemeClr val="bg2">
                              <a:lumMod val="50000"/>
                            </a:schemeClr>
                          </a:solidFill>
                        </a:rPr>
                        <a:t>19</a:t>
                      </a:r>
                      <a:endParaRPr lang="en-DE" sz="2000" dirty="0">
                        <a:solidFill>
                          <a:schemeClr val="bg2">
                            <a:lumMod val="50000"/>
                          </a:schemeClr>
                        </a:solidFill>
                      </a:endParaRPr>
                    </a:p>
                  </a:txBody>
                  <a:tcPr anchor="ctr"/>
                </a:tc>
                <a:extLst>
                  <a:ext uri="{0D108BD9-81ED-4DB2-BD59-A6C34878D82A}">
                    <a16:rowId xmlns:a16="http://schemas.microsoft.com/office/drawing/2014/main" val="17583894"/>
                  </a:ext>
                </a:extLst>
              </a:tr>
              <a:tr h="468000">
                <a:tc>
                  <a:txBody>
                    <a:bodyPr/>
                    <a:lstStyle/>
                    <a:p>
                      <a:pPr algn="l"/>
                      <a:r>
                        <a:rPr lang="de-DE" sz="2000" dirty="0">
                          <a:solidFill>
                            <a:srgbClr val="7FB6D3"/>
                          </a:solidFill>
                        </a:rPr>
                        <a:t>Ende</a:t>
                      </a:r>
                      <a:endParaRPr lang="en-DE" sz="2000" dirty="0">
                        <a:solidFill>
                          <a:srgbClr val="7FB6D3"/>
                        </a:solidFill>
                      </a:endParaRPr>
                    </a:p>
                  </a:txBody>
                  <a:tcPr anchor="ctr"/>
                </a:tc>
                <a:tc>
                  <a:txBody>
                    <a:bodyPr/>
                    <a:lstStyle/>
                    <a:p>
                      <a:pPr algn="r"/>
                      <a:r>
                        <a:rPr lang="de-DE" sz="2000" dirty="0">
                          <a:solidFill>
                            <a:schemeClr val="bg2">
                              <a:lumMod val="50000"/>
                            </a:schemeClr>
                          </a:solidFill>
                        </a:rPr>
                        <a:t>20</a:t>
                      </a:r>
                      <a:endParaRPr lang="en-DE" sz="2000" dirty="0">
                        <a:solidFill>
                          <a:schemeClr val="bg2">
                            <a:lumMod val="50000"/>
                          </a:schemeClr>
                        </a:solidFill>
                      </a:endParaRPr>
                    </a:p>
                  </a:txBody>
                  <a:tcPr anchor="ctr"/>
                </a:tc>
                <a:extLst>
                  <a:ext uri="{0D108BD9-81ED-4DB2-BD59-A6C34878D82A}">
                    <a16:rowId xmlns:a16="http://schemas.microsoft.com/office/drawing/2014/main" val="3175529813"/>
                  </a:ext>
                </a:extLst>
              </a:tr>
            </a:tbl>
          </a:graphicData>
        </a:graphic>
      </p:graphicFrame>
    </p:spTree>
    <p:extLst>
      <p:ext uri="{BB962C8B-B14F-4D97-AF65-F5344CB8AC3E}">
        <p14:creationId xmlns:p14="http://schemas.microsoft.com/office/powerpoint/2010/main" val="30060008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7D204-FA88-6E04-DC2A-E1DDE5454F3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072FEE1-80CA-6B79-31DD-9F3CF1FFD80F}"/>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Ziel und Motivation</a:t>
            </a:r>
            <a:endParaRPr lang="en-DE" sz="5400" b="1" dirty="0">
              <a:solidFill>
                <a:srgbClr val="7FB6D3"/>
              </a:solidFill>
              <a:latin typeface="Chiller" panose="04020404031007020602" pitchFamily="82" charset="0"/>
            </a:endParaRPr>
          </a:p>
        </p:txBody>
      </p:sp>
      <p:graphicFrame>
        <p:nvGraphicFramePr>
          <p:cNvPr id="4" name="Inhaltsplatzhalter 3">
            <a:extLst>
              <a:ext uri="{FF2B5EF4-FFF2-40B4-BE49-F238E27FC236}">
                <a16:creationId xmlns:a16="http://schemas.microsoft.com/office/drawing/2014/main" id="{AF02E466-F2DA-F3EF-30A3-F1026C00BB92}"/>
              </a:ext>
            </a:extLst>
          </p:cNvPr>
          <p:cNvGraphicFramePr>
            <a:graphicFrameLocks noGrp="1"/>
          </p:cNvGraphicFramePr>
          <p:nvPr>
            <p:ph idx="1"/>
          </p:nvPr>
        </p:nvGraphicFramePr>
        <p:xfrm>
          <a:off x="838200" y="1825625"/>
          <a:ext cx="10515600" cy="4428000"/>
        </p:xfrm>
        <a:graphic>
          <a:graphicData uri="http://schemas.openxmlformats.org/drawingml/2006/table">
            <a:tbl>
              <a:tblPr bandRow="1">
                <a:tableStyleId>{9D7B26C5-4107-4FEC-AEDC-1716B250A1EF}</a:tableStyleId>
              </a:tblPr>
              <a:tblGrid>
                <a:gridCol w="5257800">
                  <a:extLst>
                    <a:ext uri="{9D8B030D-6E8A-4147-A177-3AD203B41FA5}">
                      <a16:colId xmlns:a16="http://schemas.microsoft.com/office/drawing/2014/main" val="2898369813"/>
                    </a:ext>
                  </a:extLst>
                </a:gridCol>
                <a:gridCol w="5257800">
                  <a:extLst>
                    <a:ext uri="{9D8B030D-6E8A-4147-A177-3AD203B41FA5}">
                      <a16:colId xmlns:a16="http://schemas.microsoft.com/office/drawing/2014/main" val="1078347682"/>
                    </a:ext>
                  </a:extLst>
                </a:gridCol>
              </a:tblGrid>
              <a:tr h="885600">
                <a:tc>
                  <a:txBody>
                    <a:bodyPr/>
                    <a:lstStyle/>
                    <a:p>
                      <a:pPr algn="l"/>
                      <a:r>
                        <a:rPr lang="de-DE" sz="2400" dirty="0">
                          <a:solidFill>
                            <a:srgbClr val="7FB6D3"/>
                          </a:solidFill>
                        </a:rPr>
                        <a:t>Textbasiertes Browsergame</a:t>
                      </a:r>
                      <a:endParaRPr lang="en-DE" sz="2400" dirty="0">
                        <a:solidFill>
                          <a:srgbClr val="7FB6D3"/>
                        </a:solidFill>
                      </a:endParaRPr>
                    </a:p>
                  </a:txBody>
                  <a:tcPr anchor="ctr"/>
                </a:tc>
                <a:tc>
                  <a:txBody>
                    <a:bodyPr/>
                    <a:lstStyle/>
                    <a:p>
                      <a:pPr algn="l"/>
                      <a:r>
                        <a:rPr lang="de-DE" sz="2000" dirty="0">
                          <a:solidFill>
                            <a:srgbClr val="7FB6D3"/>
                          </a:solidFill>
                        </a:rPr>
                        <a:t>Einfach umzusetzen und braucht keine aufwendigen Grafiken</a:t>
                      </a:r>
                      <a:endParaRPr lang="en-DE" sz="2000" dirty="0">
                        <a:solidFill>
                          <a:srgbClr val="7FB6D3"/>
                        </a:solidFill>
                      </a:endParaRPr>
                    </a:p>
                  </a:txBody>
                  <a:tcPr anchor="ctr"/>
                </a:tc>
                <a:extLst>
                  <a:ext uri="{0D108BD9-81ED-4DB2-BD59-A6C34878D82A}">
                    <a16:rowId xmlns:a16="http://schemas.microsoft.com/office/drawing/2014/main" val="2681991218"/>
                  </a:ext>
                </a:extLst>
              </a:tr>
              <a:tr h="885600">
                <a:tc>
                  <a:txBody>
                    <a:bodyPr/>
                    <a:lstStyle/>
                    <a:p>
                      <a:pPr algn="l"/>
                      <a:r>
                        <a:rPr lang="de-DE" sz="2400" dirty="0">
                          <a:solidFill>
                            <a:srgbClr val="7FB6D3"/>
                          </a:solidFill>
                        </a:rPr>
                        <a:t>Vorbild: Legend </a:t>
                      </a:r>
                      <a:r>
                        <a:rPr lang="de-DE" sz="2400" dirty="0" err="1">
                          <a:solidFill>
                            <a:srgbClr val="7FB6D3"/>
                          </a:solidFill>
                        </a:rPr>
                        <a:t>of</a:t>
                      </a:r>
                      <a:r>
                        <a:rPr lang="de-DE" sz="2400" dirty="0">
                          <a:solidFill>
                            <a:srgbClr val="7FB6D3"/>
                          </a:solidFill>
                        </a:rPr>
                        <a:t> </a:t>
                      </a:r>
                      <a:r>
                        <a:rPr lang="de-DE" sz="2400" dirty="0" err="1">
                          <a:solidFill>
                            <a:srgbClr val="7FB6D3"/>
                          </a:solidFill>
                        </a:rPr>
                        <a:t>green</a:t>
                      </a:r>
                      <a:r>
                        <a:rPr lang="de-DE" sz="2400" dirty="0">
                          <a:solidFill>
                            <a:srgbClr val="7FB6D3"/>
                          </a:solidFill>
                        </a:rPr>
                        <a:t> Dragon</a:t>
                      </a:r>
                      <a:endParaRPr lang="en-DE" sz="2400" dirty="0">
                        <a:solidFill>
                          <a:srgbClr val="7FB6D3"/>
                        </a:solidFill>
                      </a:endParaRPr>
                    </a:p>
                  </a:txBody>
                  <a:tcPr anchor="ctr"/>
                </a:tc>
                <a:tc>
                  <a:txBody>
                    <a:bodyPr/>
                    <a:lstStyle/>
                    <a:p>
                      <a:pPr algn="l"/>
                      <a:r>
                        <a:rPr lang="de-DE" sz="2000" dirty="0">
                          <a:solidFill>
                            <a:srgbClr val="7FB6D3"/>
                          </a:solidFill>
                        </a:rPr>
                        <a:t>Aufgabe eines Wettbewerbes und weil ich das Spiel bereits kenne</a:t>
                      </a:r>
                      <a:endParaRPr lang="en-DE" sz="2000" dirty="0">
                        <a:solidFill>
                          <a:srgbClr val="7FB6D3"/>
                        </a:solidFill>
                      </a:endParaRPr>
                    </a:p>
                  </a:txBody>
                  <a:tcPr anchor="ctr"/>
                </a:tc>
                <a:extLst>
                  <a:ext uri="{0D108BD9-81ED-4DB2-BD59-A6C34878D82A}">
                    <a16:rowId xmlns:a16="http://schemas.microsoft.com/office/drawing/2014/main" val="1061043480"/>
                  </a:ext>
                </a:extLst>
              </a:tr>
              <a:tr h="885600">
                <a:tc>
                  <a:txBody>
                    <a:bodyPr/>
                    <a:lstStyle/>
                    <a:p>
                      <a:pPr algn="l"/>
                      <a:r>
                        <a:rPr lang="de-DE" sz="2400" dirty="0">
                          <a:solidFill>
                            <a:srgbClr val="7FB6D3"/>
                          </a:solidFill>
                        </a:rPr>
                        <a:t>Klassisches Fantasy Rollenspiel</a:t>
                      </a:r>
                      <a:endParaRPr lang="en-DE" sz="2400" dirty="0">
                        <a:solidFill>
                          <a:srgbClr val="7FB6D3"/>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000" dirty="0">
                          <a:solidFill>
                            <a:srgbClr val="7FB6D3"/>
                          </a:solidFill>
                        </a:rPr>
                        <a:t>Nach dem Vorbild, nur weiter ausgebaut und weil ich es ♥</a:t>
                      </a:r>
                      <a:endParaRPr lang="en-US" sz="1600" kern="1200" dirty="0">
                        <a:solidFill>
                          <a:srgbClr val="7FB6D3"/>
                        </a:solidFill>
                        <a:latin typeface="+mn-lt"/>
                        <a:ea typeface="+mn-ea"/>
                        <a:cs typeface="+mn-cs"/>
                      </a:endParaRPr>
                    </a:p>
                  </a:txBody>
                  <a:tcPr anchor="ctr"/>
                </a:tc>
                <a:extLst>
                  <a:ext uri="{0D108BD9-81ED-4DB2-BD59-A6C34878D82A}">
                    <a16:rowId xmlns:a16="http://schemas.microsoft.com/office/drawing/2014/main" val="1559115112"/>
                  </a:ext>
                </a:extLst>
              </a:tr>
              <a:tr h="885600">
                <a:tc>
                  <a:txBody>
                    <a:bodyPr/>
                    <a:lstStyle/>
                    <a:p>
                      <a:pPr algn="l"/>
                      <a:r>
                        <a:rPr lang="de-DE" sz="2400" dirty="0">
                          <a:solidFill>
                            <a:srgbClr val="7FB6D3"/>
                          </a:solidFill>
                        </a:rPr>
                        <a:t>Umsetzung in </a:t>
                      </a:r>
                      <a:r>
                        <a:rPr lang="de-DE" sz="2400" dirty="0" err="1">
                          <a:solidFill>
                            <a:srgbClr val="7FB6D3"/>
                          </a:solidFill>
                        </a:rPr>
                        <a:t>React</a:t>
                      </a:r>
                      <a:endParaRPr lang="en-DE" sz="2400" dirty="0">
                        <a:solidFill>
                          <a:srgbClr val="7FB6D3"/>
                        </a:solidFill>
                      </a:endParaRPr>
                    </a:p>
                  </a:txBody>
                  <a:tcPr anchor="ctr"/>
                </a:tc>
                <a:tc>
                  <a:txBody>
                    <a:bodyPr/>
                    <a:lstStyle/>
                    <a:p>
                      <a:pPr algn="l"/>
                      <a:r>
                        <a:rPr lang="de-DE" sz="2000" dirty="0">
                          <a:solidFill>
                            <a:srgbClr val="7FB6D3"/>
                          </a:solidFill>
                        </a:rPr>
                        <a:t>Weil es auch auf der Arbeit genutzt wird und ich so mehr Übung bekomme</a:t>
                      </a:r>
                      <a:endParaRPr lang="en-DE" sz="2000" dirty="0">
                        <a:solidFill>
                          <a:srgbClr val="7FB6D3"/>
                        </a:solidFill>
                      </a:endParaRPr>
                    </a:p>
                  </a:txBody>
                  <a:tcPr anchor="ctr"/>
                </a:tc>
                <a:extLst>
                  <a:ext uri="{0D108BD9-81ED-4DB2-BD59-A6C34878D82A}">
                    <a16:rowId xmlns:a16="http://schemas.microsoft.com/office/drawing/2014/main" val="478431714"/>
                  </a:ext>
                </a:extLst>
              </a:tr>
              <a:tr h="885600">
                <a:tc>
                  <a:txBody>
                    <a:bodyPr/>
                    <a:lstStyle/>
                    <a:p>
                      <a:pPr algn="l"/>
                      <a:r>
                        <a:rPr lang="de-DE" sz="2400" dirty="0">
                          <a:solidFill>
                            <a:srgbClr val="7FB6D3"/>
                          </a:solidFill>
                        </a:rPr>
                        <a:t>Für Web, Desktop und Mobile</a:t>
                      </a:r>
                      <a:endParaRPr lang="en-DE" sz="2400" dirty="0">
                        <a:solidFill>
                          <a:srgbClr val="7FB6D3"/>
                        </a:solidFill>
                      </a:endParaRPr>
                    </a:p>
                  </a:txBody>
                  <a:tcPr anchor="ctr"/>
                </a:tc>
                <a:tc>
                  <a:txBody>
                    <a:bodyPr/>
                    <a:lstStyle/>
                    <a:p>
                      <a:pPr algn="l"/>
                      <a:r>
                        <a:rPr lang="de-DE" sz="2000" dirty="0">
                          <a:solidFill>
                            <a:srgbClr val="7FB6D3"/>
                          </a:solidFill>
                        </a:rPr>
                        <a:t>Es soll für alle spielbar sein, vielleicht kann ich damit etwas verdienen?</a:t>
                      </a:r>
                      <a:endParaRPr lang="en-DE" sz="2000" dirty="0">
                        <a:solidFill>
                          <a:srgbClr val="7FB6D3"/>
                        </a:solidFill>
                      </a:endParaRPr>
                    </a:p>
                  </a:txBody>
                  <a:tcPr anchor="ctr"/>
                </a:tc>
                <a:extLst>
                  <a:ext uri="{0D108BD9-81ED-4DB2-BD59-A6C34878D82A}">
                    <a16:rowId xmlns:a16="http://schemas.microsoft.com/office/drawing/2014/main" val="959843978"/>
                  </a:ext>
                </a:extLst>
              </a:tr>
            </a:tbl>
          </a:graphicData>
        </a:graphic>
      </p:graphicFrame>
      <p:sp>
        <p:nvSpPr>
          <p:cNvPr id="3" name="Foliennummernplatzhalter 2">
            <a:extLst>
              <a:ext uri="{FF2B5EF4-FFF2-40B4-BE49-F238E27FC236}">
                <a16:creationId xmlns:a16="http://schemas.microsoft.com/office/drawing/2014/main" id="{2E1A2D10-DBB2-7C9F-EA23-8D254CA7F88A}"/>
              </a:ext>
            </a:extLst>
          </p:cNvPr>
          <p:cNvSpPr>
            <a:spLocks noGrp="1"/>
          </p:cNvSpPr>
          <p:nvPr>
            <p:ph type="sldNum" sz="quarter" idx="12"/>
          </p:nvPr>
        </p:nvSpPr>
        <p:spPr/>
        <p:txBody>
          <a:bodyPr/>
          <a:lstStyle/>
          <a:p>
            <a:fld id="{4118D7DC-84C5-45D3-BF8A-BA4205260971}" type="slidenum">
              <a:rPr lang="en-DE" smtClean="0"/>
              <a:t>3</a:t>
            </a:fld>
            <a:endParaRPr lang="en-DE"/>
          </a:p>
        </p:txBody>
      </p:sp>
    </p:spTree>
    <p:extLst>
      <p:ext uri="{BB962C8B-B14F-4D97-AF65-F5344CB8AC3E}">
        <p14:creationId xmlns:p14="http://schemas.microsoft.com/office/powerpoint/2010/main" val="360858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02243-C9F8-E86C-0128-1051F1FA69A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E0D38BF-A939-3E07-5089-88BB57809351}"/>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Core Features</a:t>
            </a:r>
            <a:endParaRPr lang="en-DE" sz="5400" b="1" dirty="0">
              <a:solidFill>
                <a:srgbClr val="7FB6D3"/>
              </a:solidFill>
              <a:latin typeface="Chiller" panose="04020404031007020602" pitchFamily="82" charset="0"/>
            </a:endParaRPr>
          </a:p>
        </p:txBody>
      </p:sp>
      <p:sp>
        <p:nvSpPr>
          <p:cNvPr id="5" name="Inhaltsplatzhalter 4">
            <a:extLst>
              <a:ext uri="{FF2B5EF4-FFF2-40B4-BE49-F238E27FC236}">
                <a16:creationId xmlns:a16="http://schemas.microsoft.com/office/drawing/2014/main" id="{98502025-F644-4428-B74C-63CA9E34A22E}"/>
              </a:ext>
            </a:extLst>
          </p:cNvPr>
          <p:cNvSpPr>
            <a:spLocks noGrp="1"/>
          </p:cNvSpPr>
          <p:nvPr>
            <p:ph idx="1"/>
          </p:nvPr>
        </p:nvSpPr>
        <p:spPr>
          <a:xfrm>
            <a:off x="749300" y="1825625"/>
            <a:ext cx="10718800" cy="4351338"/>
          </a:xfrm>
        </p:spPr>
        <p:txBody>
          <a:bodyPr/>
          <a:lstStyle/>
          <a:p>
            <a:pPr>
              <a:lnSpc>
                <a:spcPct val="150000"/>
              </a:lnSpc>
            </a:pPr>
            <a:r>
              <a:rPr lang="de-DE" dirty="0">
                <a:solidFill>
                  <a:srgbClr val="7FB6D3"/>
                </a:solidFill>
              </a:rPr>
              <a:t>Der Spieler bewegt sich per Klick von Ort zu Ort. </a:t>
            </a:r>
          </a:p>
          <a:p>
            <a:pPr>
              <a:lnSpc>
                <a:spcPct val="150000"/>
              </a:lnSpc>
            </a:pPr>
            <a:r>
              <a:rPr lang="de-DE" dirty="0">
                <a:solidFill>
                  <a:srgbClr val="7FB6D3"/>
                </a:solidFill>
              </a:rPr>
              <a:t>An jedem Ort kann per Button mit der Umgebung interagiert werden</a:t>
            </a:r>
          </a:p>
          <a:p>
            <a:pPr>
              <a:lnSpc>
                <a:spcPct val="150000"/>
              </a:lnSpc>
            </a:pPr>
            <a:r>
              <a:rPr lang="de-DE" dirty="0">
                <a:solidFill>
                  <a:srgbClr val="7FB6D3"/>
                </a:solidFill>
              </a:rPr>
              <a:t>Der Spieler wird stärker, um am Ende des Kapitels einen Endgegner zu besiegen. Danach fängt er neu mit dem nächsten Kapitel an.</a:t>
            </a:r>
          </a:p>
          <a:p>
            <a:pPr>
              <a:lnSpc>
                <a:spcPct val="150000"/>
              </a:lnSpc>
            </a:pPr>
            <a:r>
              <a:rPr lang="de-DE" dirty="0">
                <a:solidFill>
                  <a:srgbClr val="7FB6D3"/>
                </a:solidFill>
              </a:rPr>
              <a:t>Ziel ist es den blauen Drachen zu finden und die Bedrohung abzuwehren </a:t>
            </a:r>
            <a:endParaRPr lang="en-DE" dirty="0">
              <a:solidFill>
                <a:srgbClr val="7FB6D3"/>
              </a:solidFill>
            </a:endParaRPr>
          </a:p>
        </p:txBody>
      </p:sp>
      <p:sp>
        <p:nvSpPr>
          <p:cNvPr id="3" name="Foliennummernplatzhalter 2">
            <a:extLst>
              <a:ext uri="{FF2B5EF4-FFF2-40B4-BE49-F238E27FC236}">
                <a16:creationId xmlns:a16="http://schemas.microsoft.com/office/drawing/2014/main" id="{AF2BFCBC-7BDB-586C-588C-08E67B42AC38}"/>
              </a:ext>
            </a:extLst>
          </p:cNvPr>
          <p:cNvSpPr>
            <a:spLocks noGrp="1"/>
          </p:cNvSpPr>
          <p:nvPr>
            <p:ph type="sldNum" sz="quarter" idx="12"/>
          </p:nvPr>
        </p:nvSpPr>
        <p:spPr/>
        <p:txBody>
          <a:bodyPr/>
          <a:lstStyle/>
          <a:p>
            <a:fld id="{4118D7DC-84C5-45D3-BF8A-BA4205260971}" type="slidenum">
              <a:rPr lang="en-DE" smtClean="0"/>
              <a:t>4</a:t>
            </a:fld>
            <a:endParaRPr lang="en-DE"/>
          </a:p>
        </p:txBody>
      </p:sp>
    </p:spTree>
    <p:extLst>
      <p:ext uri="{BB962C8B-B14F-4D97-AF65-F5344CB8AC3E}">
        <p14:creationId xmlns:p14="http://schemas.microsoft.com/office/powerpoint/2010/main" val="632877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4025F-C949-D091-1B38-0F55C6D12AF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4A5CD0E-4D8D-C7AA-04EA-C2B13C9BB885}"/>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Game Features</a:t>
            </a:r>
            <a:endParaRPr lang="en-DE" sz="5400" b="1" dirty="0">
              <a:solidFill>
                <a:srgbClr val="7FB6D3"/>
              </a:solidFill>
              <a:latin typeface="Chiller" panose="04020404031007020602" pitchFamily="82" charset="0"/>
            </a:endParaRPr>
          </a:p>
        </p:txBody>
      </p:sp>
      <p:sp>
        <p:nvSpPr>
          <p:cNvPr id="5" name="Inhaltsplatzhalter 4">
            <a:extLst>
              <a:ext uri="{FF2B5EF4-FFF2-40B4-BE49-F238E27FC236}">
                <a16:creationId xmlns:a16="http://schemas.microsoft.com/office/drawing/2014/main" id="{43491996-913D-6F50-FF55-5FDA18F52ACC}"/>
              </a:ext>
            </a:extLst>
          </p:cNvPr>
          <p:cNvSpPr>
            <a:spLocks noGrp="1"/>
          </p:cNvSpPr>
          <p:nvPr>
            <p:ph idx="1"/>
          </p:nvPr>
        </p:nvSpPr>
        <p:spPr>
          <a:xfrm>
            <a:off x="749300" y="1825625"/>
            <a:ext cx="10718800" cy="4351338"/>
          </a:xfrm>
        </p:spPr>
        <p:txBody>
          <a:bodyPr>
            <a:normAutofit/>
          </a:bodyPr>
          <a:lstStyle/>
          <a:p>
            <a:pPr>
              <a:lnSpc>
                <a:spcPct val="150000"/>
              </a:lnSpc>
            </a:pPr>
            <a:r>
              <a:rPr lang="de-DE" dirty="0">
                <a:solidFill>
                  <a:srgbClr val="7FB6D3"/>
                </a:solidFill>
              </a:rPr>
              <a:t>Bewegung durch eine abwechslungsreiche Welt</a:t>
            </a:r>
          </a:p>
          <a:p>
            <a:pPr>
              <a:lnSpc>
                <a:spcPct val="150000"/>
              </a:lnSpc>
            </a:pPr>
            <a:r>
              <a:rPr lang="de-DE" dirty="0">
                <a:solidFill>
                  <a:srgbClr val="7FB6D3"/>
                </a:solidFill>
              </a:rPr>
              <a:t>Erstellung eines eigenen Charakters mit vielen Rassen/Völkern</a:t>
            </a:r>
          </a:p>
          <a:p>
            <a:pPr>
              <a:lnSpc>
                <a:spcPct val="150000"/>
              </a:lnSpc>
            </a:pPr>
            <a:r>
              <a:rPr lang="de-DE" dirty="0">
                <a:solidFill>
                  <a:srgbClr val="7FB6D3"/>
                </a:solidFill>
              </a:rPr>
              <a:t>Events und Quests erzählen eine Geschichte</a:t>
            </a:r>
          </a:p>
          <a:p>
            <a:pPr>
              <a:lnSpc>
                <a:spcPct val="150000"/>
              </a:lnSpc>
            </a:pPr>
            <a:r>
              <a:rPr lang="de-DE" dirty="0">
                <a:solidFill>
                  <a:srgbClr val="7FB6D3"/>
                </a:solidFill>
              </a:rPr>
              <a:t>Kampfsystem, mit Einfluss durch Items, Buffs und Werten</a:t>
            </a:r>
          </a:p>
          <a:p>
            <a:pPr>
              <a:lnSpc>
                <a:spcPct val="150000"/>
              </a:lnSpc>
            </a:pPr>
            <a:r>
              <a:rPr lang="de-DE" dirty="0">
                <a:solidFill>
                  <a:srgbClr val="7FB6D3"/>
                </a:solidFill>
              </a:rPr>
              <a:t>Crafting, </a:t>
            </a:r>
            <a:r>
              <a:rPr lang="de-DE" dirty="0" err="1">
                <a:solidFill>
                  <a:srgbClr val="7FB6D3"/>
                </a:solidFill>
              </a:rPr>
              <a:t>Lifeskills</a:t>
            </a:r>
            <a:r>
              <a:rPr lang="de-DE" dirty="0">
                <a:solidFill>
                  <a:srgbClr val="7FB6D3"/>
                </a:solidFill>
              </a:rPr>
              <a:t>, Skills, Dungeons und Housing (nice </a:t>
            </a:r>
            <a:r>
              <a:rPr lang="de-DE" dirty="0" err="1">
                <a:solidFill>
                  <a:srgbClr val="7FB6D3"/>
                </a:solidFill>
              </a:rPr>
              <a:t>to</a:t>
            </a:r>
            <a:r>
              <a:rPr lang="de-DE" dirty="0">
                <a:solidFill>
                  <a:srgbClr val="7FB6D3"/>
                </a:solidFill>
              </a:rPr>
              <a:t> </a:t>
            </a:r>
            <a:r>
              <a:rPr lang="de-DE" dirty="0" err="1">
                <a:solidFill>
                  <a:srgbClr val="7FB6D3"/>
                </a:solidFill>
              </a:rPr>
              <a:t>have</a:t>
            </a:r>
            <a:r>
              <a:rPr lang="de-DE" dirty="0">
                <a:solidFill>
                  <a:srgbClr val="7FB6D3"/>
                </a:solidFill>
              </a:rPr>
              <a:t>)</a:t>
            </a:r>
          </a:p>
        </p:txBody>
      </p:sp>
      <p:sp>
        <p:nvSpPr>
          <p:cNvPr id="3" name="Foliennummernplatzhalter 2">
            <a:extLst>
              <a:ext uri="{FF2B5EF4-FFF2-40B4-BE49-F238E27FC236}">
                <a16:creationId xmlns:a16="http://schemas.microsoft.com/office/drawing/2014/main" id="{A21AD1E6-26D4-FC05-FF7E-09DA0FD30FA1}"/>
              </a:ext>
            </a:extLst>
          </p:cNvPr>
          <p:cNvSpPr>
            <a:spLocks noGrp="1"/>
          </p:cNvSpPr>
          <p:nvPr>
            <p:ph type="sldNum" sz="quarter" idx="12"/>
          </p:nvPr>
        </p:nvSpPr>
        <p:spPr/>
        <p:txBody>
          <a:bodyPr/>
          <a:lstStyle/>
          <a:p>
            <a:fld id="{4118D7DC-84C5-45D3-BF8A-BA4205260971}" type="slidenum">
              <a:rPr lang="en-DE" smtClean="0"/>
              <a:t>5</a:t>
            </a:fld>
            <a:endParaRPr lang="en-DE"/>
          </a:p>
        </p:txBody>
      </p:sp>
    </p:spTree>
    <p:extLst>
      <p:ext uri="{BB962C8B-B14F-4D97-AF65-F5344CB8AC3E}">
        <p14:creationId xmlns:p14="http://schemas.microsoft.com/office/powerpoint/2010/main" val="25035271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16EC0-B10E-12BB-D57E-EC9002DFFBB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12A414A-1139-AF46-ACDC-41A795C7D3D5}"/>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Story</a:t>
            </a:r>
            <a:endParaRPr lang="en-DE" sz="5400" b="1" dirty="0">
              <a:solidFill>
                <a:srgbClr val="7FB6D3"/>
              </a:solidFill>
              <a:latin typeface="Chiller" panose="04020404031007020602" pitchFamily="82" charset="0"/>
            </a:endParaRPr>
          </a:p>
        </p:txBody>
      </p:sp>
      <p:sp>
        <p:nvSpPr>
          <p:cNvPr id="5" name="Inhaltsplatzhalter 4">
            <a:extLst>
              <a:ext uri="{FF2B5EF4-FFF2-40B4-BE49-F238E27FC236}">
                <a16:creationId xmlns:a16="http://schemas.microsoft.com/office/drawing/2014/main" id="{7EF82317-23C3-810A-767C-5A761ABC34EE}"/>
              </a:ext>
            </a:extLst>
          </p:cNvPr>
          <p:cNvSpPr>
            <a:spLocks noGrp="1"/>
          </p:cNvSpPr>
          <p:nvPr>
            <p:ph idx="1"/>
          </p:nvPr>
        </p:nvSpPr>
        <p:spPr>
          <a:xfrm>
            <a:off x="749300" y="1825625"/>
            <a:ext cx="5791200" cy="4351338"/>
          </a:xfrm>
        </p:spPr>
        <p:txBody>
          <a:bodyPr>
            <a:normAutofit fontScale="92500"/>
          </a:bodyPr>
          <a:lstStyle/>
          <a:p>
            <a:pPr marL="0" indent="0">
              <a:lnSpc>
                <a:spcPct val="150000"/>
              </a:lnSpc>
              <a:buNone/>
            </a:pPr>
            <a:r>
              <a:rPr lang="de-DE" sz="2400" dirty="0">
                <a:solidFill>
                  <a:srgbClr val="7FB6D3"/>
                </a:solidFill>
              </a:rPr>
              <a:t>Am Anfang gab es nur „Alles und Nichts“, daraus endstanden die Elemente in Form der Drachen. Einer wollte alle anderen Drachen verschlingen: die Dunkelheit. Zwei Drachen stellen sich ihm entgegen, gefangen in einer Zeitschleife. Der Spieler soll die Schleife durchbrechen und die Dunkelheit mit dem blauen Drachen zusammen besiegen.</a:t>
            </a:r>
          </a:p>
        </p:txBody>
      </p:sp>
      <p:pic>
        <p:nvPicPr>
          <p:cNvPr id="4" name="Grafik 3" descr="Ein Bild, das Bild, Kunst, Entwurf, Zeichnung enthält.&#10;&#10;KI-generierte Inhalte können fehlerhaft sein.">
            <a:extLst>
              <a:ext uri="{FF2B5EF4-FFF2-40B4-BE49-F238E27FC236}">
                <a16:creationId xmlns:a16="http://schemas.microsoft.com/office/drawing/2014/main" id="{61559FF1-B917-82F3-728D-8B6CD4F4D1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70700" y="1693863"/>
            <a:ext cx="4483100" cy="44831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3" name="Foliennummernplatzhalter 2">
            <a:extLst>
              <a:ext uri="{FF2B5EF4-FFF2-40B4-BE49-F238E27FC236}">
                <a16:creationId xmlns:a16="http://schemas.microsoft.com/office/drawing/2014/main" id="{6A22C355-6602-1852-75F3-1FAA3575F2CE}"/>
              </a:ext>
            </a:extLst>
          </p:cNvPr>
          <p:cNvSpPr>
            <a:spLocks noGrp="1"/>
          </p:cNvSpPr>
          <p:nvPr>
            <p:ph type="sldNum" sz="quarter" idx="12"/>
          </p:nvPr>
        </p:nvSpPr>
        <p:spPr/>
        <p:txBody>
          <a:bodyPr/>
          <a:lstStyle/>
          <a:p>
            <a:fld id="{4118D7DC-84C5-45D3-BF8A-BA4205260971}" type="slidenum">
              <a:rPr lang="en-DE" smtClean="0"/>
              <a:t>6</a:t>
            </a:fld>
            <a:endParaRPr lang="en-DE"/>
          </a:p>
        </p:txBody>
      </p:sp>
    </p:spTree>
    <p:extLst>
      <p:ext uri="{BB962C8B-B14F-4D97-AF65-F5344CB8AC3E}">
        <p14:creationId xmlns:p14="http://schemas.microsoft.com/office/powerpoint/2010/main" val="15682144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A1C97-2DAA-F8B0-FC46-6FF2DEDBA58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E4A3E06-DE23-B571-636B-F055044F6CC7}"/>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Die Welt</a:t>
            </a:r>
            <a:endParaRPr lang="en-DE" sz="5400" b="1" dirty="0">
              <a:solidFill>
                <a:srgbClr val="7FB6D3"/>
              </a:solidFill>
              <a:latin typeface="Chiller" panose="04020404031007020602" pitchFamily="82" charset="0"/>
            </a:endParaRPr>
          </a:p>
        </p:txBody>
      </p:sp>
      <p:pic>
        <p:nvPicPr>
          <p:cNvPr id="8" name="Inhaltsplatzhalter 7" descr="Ein Bild, das Text, Screenshot, Diagramm, Design enthält.&#10;&#10;KI-generierte Inhalte können fehlerhaft sein.">
            <a:extLst>
              <a:ext uri="{FF2B5EF4-FFF2-40B4-BE49-F238E27FC236}">
                <a16:creationId xmlns:a16="http://schemas.microsoft.com/office/drawing/2014/main" id="{40CFEB6E-B7AE-BF90-49E5-E3326A20994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1825625"/>
            <a:ext cx="4925865" cy="4351338"/>
          </a:xfrm>
        </p:spPr>
      </p:pic>
      <p:pic>
        <p:nvPicPr>
          <p:cNvPr id="10" name="Grafik 9" descr="Ein Bild, das Text, Karte, Diagramm, Plan enthält.&#10;&#10;KI-generierte Inhalte können fehlerhaft sein.">
            <a:extLst>
              <a:ext uri="{FF2B5EF4-FFF2-40B4-BE49-F238E27FC236}">
                <a16:creationId xmlns:a16="http://schemas.microsoft.com/office/drawing/2014/main" id="{186AFA89-CA7D-3E06-1A81-FEDE7D043E0B}"/>
              </a:ext>
            </a:extLst>
          </p:cNvPr>
          <p:cNvPicPr>
            <a:picLocks noChangeAspect="1"/>
          </p:cNvPicPr>
          <p:nvPr/>
        </p:nvPicPr>
        <p:blipFill>
          <a:blip r:embed="rId3">
            <a:extLst>
              <a:ext uri="{BEBA8EAE-BF5A-486C-A8C5-ECC9F3942E4B}">
                <a14:imgProps xmlns:a14="http://schemas.microsoft.com/office/drawing/2010/main">
                  <a14:imgLayer r:embed="rId4">
                    <a14:imgEffect>
                      <a14:saturation sat="66000"/>
                    </a14:imgEffect>
                  </a14:imgLayer>
                </a14:imgProps>
              </a:ext>
              <a:ext uri="{28A0092B-C50C-407E-A947-70E740481C1C}">
                <a14:useLocalDpi xmlns:a14="http://schemas.microsoft.com/office/drawing/2010/main" val="0"/>
              </a:ext>
            </a:extLst>
          </a:blip>
          <a:stretch>
            <a:fillRect/>
          </a:stretch>
        </p:blipFill>
        <p:spPr>
          <a:xfrm>
            <a:off x="6638953" y="1117600"/>
            <a:ext cx="4497211" cy="5059363"/>
          </a:xfrm>
          <a:prstGeom prst="rect">
            <a:avLst/>
          </a:prstGeom>
        </p:spPr>
      </p:pic>
      <p:sp>
        <p:nvSpPr>
          <p:cNvPr id="3" name="Foliennummernplatzhalter 2">
            <a:extLst>
              <a:ext uri="{FF2B5EF4-FFF2-40B4-BE49-F238E27FC236}">
                <a16:creationId xmlns:a16="http://schemas.microsoft.com/office/drawing/2014/main" id="{6AAFB0EC-2824-9EA2-97D1-DEFD44ACBA43}"/>
              </a:ext>
            </a:extLst>
          </p:cNvPr>
          <p:cNvSpPr>
            <a:spLocks noGrp="1"/>
          </p:cNvSpPr>
          <p:nvPr>
            <p:ph type="sldNum" sz="quarter" idx="12"/>
          </p:nvPr>
        </p:nvSpPr>
        <p:spPr/>
        <p:txBody>
          <a:bodyPr/>
          <a:lstStyle/>
          <a:p>
            <a:fld id="{4118D7DC-84C5-45D3-BF8A-BA4205260971}" type="slidenum">
              <a:rPr lang="en-DE" smtClean="0"/>
              <a:t>7</a:t>
            </a:fld>
            <a:endParaRPr lang="en-DE"/>
          </a:p>
        </p:txBody>
      </p:sp>
    </p:spTree>
    <p:extLst>
      <p:ext uri="{BB962C8B-B14F-4D97-AF65-F5344CB8AC3E}">
        <p14:creationId xmlns:p14="http://schemas.microsoft.com/office/powerpoint/2010/main" val="22350955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AB12-84BA-2348-4D8C-F8132FD0EBF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4EFC72-B888-2AB8-E661-57DCDBA0B846}"/>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Layout</a:t>
            </a:r>
            <a:endParaRPr lang="en-DE" sz="5400" b="1" dirty="0">
              <a:solidFill>
                <a:srgbClr val="7FB6D3"/>
              </a:solidFill>
              <a:latin typeface="Chiller" panose="04020404031007020602" pitchFamily="82" charset="0"/>
            </a:endParaRPr>
          </a:p>
        </p:txBody>
      </p:sp>
      <p:sp>
        <p:nvSpPr>
          <p:cNvPr id="11" name="Rechteck: abgerundete Ecken 10">
            <a:extLst>
              <a:ext uri="{FF2B5EF4-FFF2-40B4-BE49-F238E27FC236}">
                <a16:creationId xmlns:a16="http://schemas.microsoft.com/office/drawing/2014/main" id="{A9541958-15A3-118E-802F-6FE9A56941EB}"/>
              </a:ext>
            </a:extLst>
          </p:cNvPr>
          <p:cNvSpPr/>
          <p:nvPr/>
        </p:nvSpPr>
        <p:spPr>
          <a:xfrm>
            <a:off x="838200" y="3884613"/>
            <a:ext cx="1066800" cy="2520950"/>
          </a:xfrm>
          <a:prstGeom prst="roundRect">
            <a:avLst/>
          </a:prstGeom>
          <a:noFill/>
          <a:ln w="38100" cap="flat" cmpd="sng" algn="ctr">
            <a:solidFill>
              <a:schemeClr val="accent6">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2" name="Rechteck: abgerundete Ecken 11">
            <a:extLst>
              <a:ext uri="{FF2B5EF4-FFF2-40B4-BE49-F238E27FC236}">
                <a16:creationId xmlns:a16="http://schemas.microsoft.com/office/drawing/2014/main" id="{10A72488-C34A-283A-08B4-7A69892C8656}"/>
              </a:ext>
            </a:extLst>
          </p:cNvPr>
          <p:cNvSpPr/>
          <p:nvPr/>
        </p:nvSpPr>
        <p:spPr>
          <a:xfrm>
            <a:off x="2051050" y="3884613"/>
            <a:ext cx="2660650" cy="2520950"/>
          </a:xfrm>
          <a:prstGeom prst="roundRect">
            <a:avLst>
              <a:gd name="adj" fmla="val 5584"/>
            </a:avLst>
          </a:prstGeom>
          <a:noFill/>
          <a:ln w="38100" cap="flat" cmpd="sng" algn="ctr">
            <a:solidFill>
              <a:schemeClr val="accent6">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3" name="Rechteck: abgerundete Ecken 12">
            <a:extLst>
              <a:ext uri="{FF2B5EF4-FFF2-40B4-BE49-F238E27FC236}">
                <a16:creationId xmlns:a16="http://schemas.microsoft.com/office/drawing/2014/main" id="{B7136289-B1A0-3100-A7DB-E4334C0796E0}"/>
              </a:ext>
            </a:extLst>
          </p:cNvPr>
          <p:cNvSpPr/>
          <p:nvPr/>
        </p:nvSpPr>
        <p:spPr>
          <a:xfrm>
            <a:off x="4857750" y="3884613"/>
            <a:ext cx="1066800" cy="2520950"/>
          </a:xfrm>
          <a:prstGeom prst="roundRect">
            <a:avLst/>
          </a:prstGeom>
          <a:noFill/>
          <a:ln w="38100" cap="flat" cmpd="sng" algn="ctr">
            <a:solidFill>
              <a:schemeClr val="accent6">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4" name="Textfeld 13">
            <a:extLst>
              <a:ext uri="{FF2B5EF4-FFF2-40B4-BE49-F238E27FC236}">
                <a16:creationId xmlns:a16="http://schemas.microsoft.com/office/drawing/2014/main" id="{978B8C39-564D-0A8F-51E9-9317B0A8FE9D}"/>
              </a:ext>
            </a:extLst>
          </p:cNvPr>
          <p:cNvSpPr txBox="1"/>
          <p:nvPr/>
        </p:nvSpPr>
        <p:spPr>
          <a:xfrm>
            <a:off x="2695931" y="4211638"/>
            <a:ext cx="1370888" cy="646331"/>
          </a:xfrm>
          <a:prstGeom prst="rect">
            <a:avLst/>
          </a:prstGeom>
          <a:noFill/>
        </p:spPr>
        <p:txBody>
          <a:bodyPr wrap="none" rtlCol="0">
            <a:spAutoFit/>
          </a:bodyPr>
          <a:lstStyle/>
          <a:p>
            <a:pPr algn="ctr"/>
            <a:r>
              <a:rPr lang="de-DE" dirty="0">
                <a:solidFill>
                  <a:srgbClr val="7FB6D3"/>
                </a:solidFill>
              </a:rPr>
              <a:t>Desktop</a:t>
            </a:r>
          </a:p>
          <a:p>
            <a:pPr algn="ctr"/>
            <a:r>
              <a:rPr lang="de-DE" dirty="0">
                <a:solidFill>
                  <a:srgbClr val="7FB6D3"/>
                </a:solidFill>
              </a:rPr>
              <a:t>Hauptinhalt</a:t>
            </a:r>
            <a:endParaRPr lang="en-DE" dirty="0">
              <a:solidFill>
                <a:srgbClr val="7FB6D3"/>
              </a:solidFill>
            </a:endParaRPr>
          </a:p>
        </p:txBody>
      </p:sp>
      <p:sp>
        <p:nvSpPr>
          <p:cNvPr id="15" name="Textfeld 14">
            <a:extLst>
              <a:ext uri="{FF2B5EF4-FFF2-40B4-BE49-F238E27FC236}">
                <a16:creationId xmlns:a16="http://schemas.microsoft.com/office/drawing/2014/main" id="{FAD5FEE2-25C9-89B4-B0E6-C2452C0ED033}"/>
              </a:ext>
            </a:extLst>
          </p:cNvPr>
          <p:cNvSpPr txBox="1"/>
          <p:nvPr/>
        </p:nvSpPr>
        <p:spPr>
          <a:xfrm>
            <a:off x="976299" y="4211638"/>
            <a:ext cx="790601" cy="646331"/>
          </a:xfrm>
          <a:prstGeom prst="rect">
            <a:avLst/>
          </a:prstGeom>
          <a:noFill/>
        </p:spPr>
        <p:txBody>
          <a:bodyPr wrap="none" rtlCol="0">
            <a:spAutoFit/>
          </a:bodyPr>
          <a:lstStyle/>
          <a:p>
            <a:pPr algn="ctr"/>
            <a:r>
              <a:rPr lang="de-DE" dirty="0">
                <a:solidFill>
                  <a:srgbClr val="7FB6D3"/>
                </a:solidFill>
              </a:rPr>
              <a:t>Game</a:t>
            </a:r>
          </a:p>
          <a:p>
            <a:pPr algn="ctr"/>
            <a:r>
              <a:rPr lang="de-DE" dirty="0">
                <a:solidFill>
                  <a:srgbClr val="7FB6D3"/>
                </a:solidFill>
              </a:rPr>
              <a:t>Navi</a:t>
            </a:r>
            <a:endParaRPr lang="en-DE" dirty="0">
              <a:solidFill>
                <a:srgbClr val="7FB6D3"/>
              </a:solidFill>
            </a:endParaRPr>
          </a:p>
        </p:txBody>
      </p:sp>
      <p:sp>
        <p:nvSpPr>
          <p:cNvPr id="16" name="Textfeld 15">
            <a:extLst>
              <a:ext uri="{FF2B5EF4-FFF2-40B4-BE49-F238E27FC236}">
                <a16:creationId xmlns:a16="http://schemas.microsoft.com/office/drawing/2014/main" id="{64126D86-1F50-32FD-A255-2637DAEF2597}"/>
              </a:ext>
            </a:extLst>
          </p:cNvPr>
          <p:cNvSpPr txBox="1"/>
          <p:nvPr/>
        </p:nvSpPr>
        <p:spPr>
          <a:xfrm>
            <a:off x="4990687" y="4211638"/>
            <a:ext cx="800925" cy="646331"/>
          </a:xfrm>
          <a:prstGeom prst="rect">
            <a:avLst/>
          </a:prstGeom>
          <a:noFill/>
        </p:spPr>
        <p:txBody>
          <a:bodyPr wrap="none" rtlCol="0">
            <a:spAutoFit/>
          </a:bodyPr>
          <a:lstStyle/>
          <a:p>
            <a:pPr algn="ctr"/>
            <a:r>
              <a:rPr lang="de-DE" dirty="0">
                <a:solidFill>
                  <a:srgbClr val="7FB6D3"/>
                </a:solidFill>
              </a:rPr>
              <a:t>Player</a:t>
            </a:r>
          </a:p>
          <a:p>
            <a:pPr algn="ctr"/>
            <a:r>
              <a:rPr lang="de-DE" dirty="0">
                <a:solidFill>
                  <a:srgbClr val="7FB6D3"/>
                </a:solidFill>
              </a:rPr>
              <a:t>Info</a:t>
            </a:r>
            <a:endParaRPr lang="en-DE" dirty="0">
              <a:solidFill>
                <a:srgbClr val="7FB6D3"/>
              </a:solidFill>
            </a:endParaRPr>
          </a:p>
        </p:txBody>
      </p:sp>
      <p:sp>
        <p:nvSpPr>
          <p:cNvPr id="17" name="Rechteck: abgerundete Ecken 16">
            <a:extLst>
              <a:ext uri="{FF2B5EF4-FFF2-40B4-BE49-F238E27FC236}">
                <a16:creationId xmlns:a16="http://schemas.microsoft.com/office/drawing/2014/main" id="{8FB6481F-3CF7-9A1D-E6B9-48FB00E75CC0}"/>
              </a:ext>
            </a:extLst>
          </p:cNvPr>
          <p:cNvSpPr/>
          <p:nvPr/>
        </p:nvSpPr>
        <p:spPr>
          <a:xfrm>
            <a:off x="7137400" y="955675"/>
            <a:ext cx="869950" cy="2520950"/>
          </a:xfrm>
          <a:prstGeom prst="roundRect">
            <a:avLst/>
          </a:prstGeom>
          <a:noFill/>
          <a:ln w="38100" cap="flat" cmpd="sng" algn="ctr">
            <a:solidFill>
              <a:schemeClr val="accent5">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8" name="Rechteck: abgerundete Ecken 17">
            <a:extLst>
              <a:ext uri="{FF2B5EF4-FFF2-40B4-BE49-F238E27FC236}">
                <a16:creationId xmlns:a16="http://schemas.microsoft.com/office/drawing/2014/main" id="{992FC4B5-CC0C-3C2D-8B33-78676319190E}"/>
              </a:ext>
            </a:extLst>
          </p:cNvPr>
          <p:cNvSpPr/>
          <p:nvPr/>
        </p:nvSpPr>
        <p:spPr>
          <a:xfrm>
            <a:off x="8204199" y="955675"/>
            <a:ext cx="2806701" cy="2520950"/>
          </a:xfrm>
          <a:prstGeom prst="roundRect">
            <a:avLst>
              <a:gd name="adj" fmla="val 5584"/>
            </a:avLst>
          </a:prstGeom>
          <a:noFill/>
          <a:ln w="38100" cap="flat" cmpd="sng" algn="ctr">
            <a:solidFill>
              <a:schemeClr val="accent5">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9" name="Textfeld 18">
            <a:extLst>
              <a:ext uri="{FF2B5EF4-FFF2-40B4-BE49-F238E27FC236}">
                <a16:creationId xmlns:a16="http://schemas.microsoft.com/office/drawing/2014/main" id="{8C650DF6-C1C8-6EB4-40EA-9718E375B851}"/>
              </a:ext>
            </a:extLst>
          </p:cNvPr>
          <p:cNvSpPr txBox="1"/>
          <p:nvPr/>
        </p:nvSpPr>
        <p:spPr>
          <a:xfrm>
            <a:off x="8995131" y="1282700"/>
            <a:ext cx="1370888" cy="646331"/>
          </a:xfrm>
          <a:prstGeom prst="rect">
            <a:avLst/>
          </a:prstGeom>
          <a:noFill/>
        </p:spPr>
        <p:txBody>
          <a:bodyPr wrap="none" rtlCol="0">
            <a:spAutoFit/>
          </a:bodyPr>
          <a:lstStyle/>
          <a:p>
            <a:pPr algn="ctr"/>
            <a:r>
              <a:rPr lang="de-DE" dirty="0">
                <a:solidFill>
                  <a:srgbClr val="7FB6D3"/>
                </a:solidFill>
              </a:rPr>
              <a:t>Tablet</a:t>
            </a:r>
          </a:p>
          <a:p>
            <a:pPr algn="ctr"/>
            <a:r>
              <a:rPr lang="de-DE" dirty="0">
                <a:solidFill>
                  <a:srgbClr val="7FB6D3"/>
                </a:solidFill>
              </a:rPr>
              <a:t>Hauptinhalt</a:t>
            </a:r>
            <a:endParaRPr lang="en-DE" dirty="0">
              <a:solidFill>
                <a:srgbClr val="7FB6D3"/>
              </a:solidFill>
            </a:endParaRPr>
          </a:p>
        </p:txBody>
      </p:sp>
      <p:sp>
        <p:nvSpPr>
          <p:cNvPr id="20" name="Textfeld 19">
            <a:extLst>
              <a:ext uri="{FF2B5EF4-FFF2-40B4-BE49-F238E27FC236}">
                <a16:creationId xmlns:a16="http://schemas.microsoft.com/office/drawing/2014/main" id="{F50EA59B-43D2-D7D4-CDD6-34DDD4752627}"/>
              </a:ext>
            </a:extLst>
          </p:cNvPr>
          <p:cNvSpPr txBox="1"/>
          <p:nvPr/>
        </p:nvSpPr>
        <p:spPr>
          <a:xfrm>
            <a:off x="7177074" y="1282700"/>
            <a:ext cx="790601" cy="646331"/>
          </a:xfrm>
          <a:prstGeom prst="rect">
            <a:avLst/>
          </a:prstGeom>
          <a:noFill/>
        </p:spPr>
        <p:txBody>
          <a:bodyPr wrap="none" rtlCol="0">
            <a:spAutoFit/>
          </a:bodyPr>
          <a:lstStyle/>
          <a:p>
            <a:pPr algn="ctr"/>
            <a:r>
              <a:rPr lang="de-DE" dirty="0">
                <a:solidFill>
                  <a:srgbClr val="7FB6D3"/>
                </a:solidFill>
              </a:rPr>
              <a:t>Game</a:t>
            </a:r>
          </a:p>
          <a:p>
            <a:pPr algn="ctr"/>
            <a:r>
              <a:rPr lang="de-DE" dirty="0">
                <a:solidFill>
                  <a:srgbClr val="7FB6D3"/>
                </a:solidFill>
              </a:rPr>
              <a:t>Navi</a:t>
            </a:r>
            <a:endParaRPr lang="en-DE" dirty="0">
              <a:solidFill>
                <a:srgbClr val="7FB6D3"/>
              </a:solidFill>
            </a:endParaRPr>
          </a:p>
        </p:txBody>
      </p:sp>
      <p:sp>
        <p:nvSpPr>
          <p:cNvPr id="21" name="Rechteck: abgerundete Ecken 20">
            <a:extLst>
              <a:ext uri="{FF2B5EF4-FFF2-40B4-BE49-F238E27FC236}">
                <a16:creationId xmlns:a16="http://schemas.microsoft.com/office/drawing/2014/main" id="{7BC7E245-5914-65AD-3BF9-E98190A2CABE}"/>
              </a:ext>
            </a:extLst>
          </p:cNvPr>
          <p:cNvSpPr/>
          <p:nvPr/>
        </p:nvSpPr>
        <p:spPr>
          <a:xfrm>
            <a:off x="7137400" y="450850"/>
            <a:ext cx="3873500" cy="369888"/>
          </a:xfrm>
          <a:prstGeom prst="roundRect">
            <a:avLst>
              <a:gd name="adj" fmla="val 31171"/>
            </a:avLst>
          </a:prstGeom>
          <a:noFill/>
          <a:ln w="38100" cap="flat" cmpd="sng" algn="ctr">
            <a:solidFill>
              <a:schemeClr val="accent5">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2" name="Textfeld 21">
            <a:extLst>
              <a:ext uri="{FF2B5EF4-FFF2-40B4-BE49-F238E27FC236}">
                <a16:creationId xmlns:a16="http://schemas.microsoft.com/office/drawing/2014/main" id="{F5118A50-CF92-3EFD-BE38-3B12D2BCE77B}"/>
              </a:ext>
            </a:extLst>
          </p:cNvPr>
          <p:cNvSpPr txBox="1"/>
          <p:nvPr/>
        </p:nvSpPr>
        <p:spPr>
          <a:xfrm>
            <a:off x="8324850" y="450850"/>
            <a:ext cx="1498600" cy="369332"/>
          </a:xfrm>
          <a:prstGeom prst="rect">
            <a:avLst/>
          </a:prstGeom>
          <a:noFill/>
        </p:spPr>
        <p:txBody>
          <a:bodyPr wrap="square" rtlCol="0">
            <a:spAutoFit/>
          </a:bodyPr>
          <a:lstStyle/>
          <a:p>
            <a:pPr algn="ctr"/>
            <a:r>
              <a:rPr lang="de-DE" dirty="0">
                <a:solidFill>
                  <a:srgbClr val="7FB6D3"/>
                </a:solidFill>
              </a:rPr>
              <a:t>Player Info</a:t>
            </a:r>
            <a:endParaRPr lang="en-DE" dirty="0">
              <a:solidFill>
                <a:srgbClr val="7FB6D3"/>
              </a:solidFill>
            </a:endParaRPr>
          </a:p>
        </p:txBody>
      </p:sp>
      <p:sp>
        <p:nvSpPr>
          <p:cNvPr id="23" name="Rechteck: abgerundete Ecken 22">
            <a:extLst>
              <a:ext uri="{FF2B5EF4-FFF2-40B4-BE49-F238E27FC236}">
                <a16:creationId xmlns:a16="http://schemas.microsoft.com/office/drawing/2014/main" id="{E62991A3-EE2B-D5DF-C127-432BA2337657}"/>
              </a:ext>
            </a:extLst>
          </p:cNvPr>
          <p:cNvSpPr/>
          <p:nvPr/>
        </p:nvSpPr>
        <p:spPr>
          <a:xfrm>
            <a:off x="7173900" y="4359275"/>
            <a:ext cx="1066800" cy="1555751"/>
          </a:xfrm>
          <a:prstGeom prst="roundRect">
            <a:avLst>
              <a:gd name="adj" fmla="val 8334"/>
            </a:avLst>
          </a:prstGeom>
          <a:noFill/>
          <a:ln w="38100" cap="flat" cmpd="sng" algn="ctr">
            <a:solidFill>
              <a:schemeClr val="accent2">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4" name="Rechteck: abgerundete Ecken 23">
            <a:extLst>
              <a:ext uri="{FF2B5EF4-FFF2-40B4-BE49-F238E27FC236}">
                <a16:creationId xmlns:a16="http://schemas.microsoft.com/office/drawing/2014/main" id="{5BD411A7-7158-CA9C-F209-8FEBFE260469}"/>
              </a:ext>
            </a:extLst>
          </p:cNvPr>
          <p:cNvSpPr/>
          <p:nvPr/>
        </p:nvSpPr>
        <p:spPr>
          <a:xfrm>
            <a:off x="7158024" y="3884613"/>
            <a:ext cx="1066800" cy="369888"/>
          </a:xfrm>
          <a:prstGeom prst="roundRect">
            <a:avLst>
              <a:gd name="adj" fmla="val 20871"/>
            </a:avLst>
          </a:prstGeom>
          <a:noFill/>
          <a:ln w="38100" cap="flat" cmpd="sng" algn="ctr">
            <a:solidFill>
              <a:schemeClr val="accent2">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5" name="Rechteck: abgerundete Ecken 24">
            <a:extLst>
              <a:ext uri="{FF2B5EF4-FFF2-40B4-BE49-F238E27FC236}">
                <a16:creationId xmlns:a16="http://schemas.microsoft.com/office/drawing/2014/main" id="{C888D654-C8B6-768D-8210-A6737B6A0F71}"/>
              </a:ext>
            </a:extLst>
          </p:cNvPr>
          <p:cNvSpPr/>
          <p:nvPr/>
        </p:nvSpPr>
        <p:spPr>
          <a:xfrm>
            <a:off x="7173900" y="6037262"/>
            <a:ext cx="1066800" cy="369888"/>
          </a:xfrm>
          <a:prstGeom prst="roundRect">
            <a:avLst>
              <a:gd name="adj" fmla="val 20871"/>
            </a:avLst>
          </a:prstGeom>
          <a:noFill/>
          <a:ln w="38100" cap="flat" cmpd="sng" algn="ctr">
            <a:solidFill>
              <a:schemeClr val="accent2">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6" name="Textfeld 25">
            <a:extLst>
              <a:ext uri="{FF2B5EF4-FFF2-40B4-BE49-F238E27FC236}">
                <a16:creationId xmlns:a16="http://schemas.microsoft.com/office/drawing/2014/main" id="{1E7D4984-E1C0-C433-B128-2500F109F2DE}"/>
              </a:ext>
            </a:extLst>
          </p:cNvPr>
          <p:cNvSpPr txBox="1"/>
          <p:nvPr/>
        </p:nvSpPr>
        <p:spPr>
          <a:xfrm>
            <a:off x="8339125" y="4826684"/>
            <a:ext cx="1370888" cy="646331"/>
          </a:xfrm>
          <a:prstGeom prst="rect">
            <a:avLst/>
          </a:prstGeom>
          <a:noFill/>
        </p:spPr>
        <p:txBody>
          <a:bodyPr wrap="none" rtlCol="0">
            <a:spAutoFit/>
          </a:bodyPr>
          <a:lstStyle/>
          <a:p>
            <a:r>
              <a:rPr lang="de-DE" dirty="0">
                <a:solidFill>
                  <a:srgbClr val="7FB6D3"/>
                </a:solidFill>
              </a:rPr>
              <a:t>Mobile</a:t>
            </a:r>
          </a:p>
          <a:p>
            <a:r>
              <a:rPr lang="de-DE" dirty="0">
                <a:solidFill>
                  <a:srgbClr val="7FB6D3"/>
                </a:solidFill>
              </a:rPr>
              <a:t>Hauptinhalt</a:t>
            </a:r>
            <a:endParaRPr lang="en-DE" dirty="0">
              <a:solidFill>
                <a:srgbClr val="7FB6D3"/>
              </a:solidFill>
            </a:endParaRPr>
          </a:p>
        </p:txBody>
      </p:sp>
      <p:sp>
        <p:nvSpPr>
          <p:cNvPr id="27" name="Textfeld 26">
            <a:extLst>
              <a:ext uri="{FF2B5EF4-FFF2-40B4-BE49-F238E27FC236}">
                <a16:creationId xmlns:a16="http://schemas.microsoft.com/office/drawing/2014/main" id="{B073B67E-4E8B-3CC6-DB59-FBC4E28D7666}"/>
              </a:ext>
            </a:extLst>
          </p:cNvPr>
          <p:cNvSpPr txBox="1"/>
          <p:nvPr/>
        </p:nvSpPr>
        <p:spPr>
          <a:xfrm>
            <a:off x="8339125" y="6035675"/>
            <a:ext cx="1370888" cy="369332"/>
          </a:xfrm>
          <a:prstGeom prst="rect">
            <a:avLst/>
          </a:prstGeom>
          <a:noFill/>
        </p:spPr>
        <p:txBody>
          <a:bodyPr wrap="square" rtlCol="0">
            <a:spAutoFit/>
          </a:bodyPr>
          <a:lstStyle/>
          <a:p>
            <a:r>
              <a:rPr lang="de-DE" dirty="0">
                <a:solidFill>
                  <a:srgbClr val="7FB6D3"/>
                </a:solidFill>
              </a:rPr>
              <a:t>Game Navi</a:t>
            </a:r>
            <a:endParaRPr lang="en-DE" dirty="0">
              <a:solidFill>
                <a:srgbClr val="7FB6D3"/>
              </a:solidFill>
            </a:endParaRPr>
          </a:p>
        </p:txBody>
      </p:sp>
      <p:sp>
        <p:nvSpPr>
          <p:cNvPr id="28" name="Textfeld 27">
            <a:extLst>
              <a:ext uri="{FF2B5EF4-FFF2-40B4-BE49-F238E27FC236}">
                <a16:creationId xmlns:a16="http://schemas.microsoft.com/office/drawing/2014/main" id="{EE3AFDF7-9FCD-0648-B94B-7D76D6B41B37}"/>
              </a:ext>
            </a:extLst>
          </p:cNvPr>
          <p:cNvSpPr txBox="1"/>
          <p:nvPr/>
        </p:nvSpPr>
        <p:spPr>
          <a:xfrm>
            <a:off x="8324850" y="3885169"/>
            <a:ext cx="1276323" cy="369332"/>
          </a:xfrm>
          <a:prstGeom prst="rect">
            <a:avLst/>
          </a:prstGeom>
          <a:noFill/>
        </p:spPr>
        <p:txBody>
          <a:bodyPr wrap="square" rtlCol="0">
            <a:spAutoFit/>
          </a:bodyPr>
          <a:lstStyle/>
          <a:p>
            <a:r>
              <a:rPr lang="de-DE" dirty="0">
                <a:solidFill>
                  <a:srgbClr val="7FB6D3"/>
                </a:solidFill>
              </a:rPr>
              <a:t>Player Info</a:t>
            </a:r>
            <a:endParaRPr lang="en-DE" dirty="0">
              <a:solidFill>
                <a:srgbClr val="7FB6D3"/>
              </a:solidFill>
            </a:endParaRPr>
          </a:p>
        </p:txBody>
      </p:sp>
      <p:sp>
        <p:nvSpPr>
          <p:cNvPr id="29" name="Textfeld 28">
            <a:extLst>
              <a:ext uri="{FF2B5EF4-FFF2-40B4-BE49-F238E27FC236}">
                <a16:creationId xmlns:a16="http://schemas.microsoft.com/office/drawing/2014/main" id="{AC8E8F6B-3DFA-F901-FDDD-DE9F18172F5F}"/>
              </a:ext>
            </a:extLst>
          </p:cNvPr>
          <p:cNvSpPr txBox="1"/>
          <p:nvPr/>
        </p:nvSpPr>
        <p:spPr>
          <a:xfrm>
            <a:off x="793750" y="1697578"/>
            <a:ext cx="5429252" cy="1567032"/>
          </a:xfrm>
          <a:prstGeom prst="rect">
            <a:avLst/>
          </a:prstGeom>
          <a:noFill/>
        </p:spPr>
        <p:txBody>
          <a:bodyPr wrap="square" rtlCol="0">
            <a:spAutoFit/>
          </a:bodyPr>
          <a:lstStyle/>
          <a:p>
            <a:pPr>
              <a:lnSpc>
                <a:spcPct val="150000"/>
              </a:lnSpc>
            </a:pPr>
            <a:r>
              <a:rPr lang="de-DE" sz="2200" dirty="0">
                <a:solidFill>
                  <a:srgbClr val="7FB6D3"/>
                </a:solidFill>
              </a:rPr>
              <a:t>Das Layout ist responsiv und wird mithilfe von CSS Media Queries umgesetzt, die drei verschiedene Auflösungen unterstützen.</a:t>
            </a:r>
            <a:endParaRPr lang="en-DE" sz="2200" dirty="0">
              <a:solidFill>
                <a:srgbClr val="7FB6D3"/>
              </a:solidFill>
            </a:endParaRPr>
          </a:p>
        </p:txBody>
      </p:sp>
      <p:sp>
        <p:nvSpPr>
          <p:cNvPr id="3" name="Foliennummernplatzhalter 2">
            <a:extLst>
              <a:ext uri="{FF2B5EF4-FFF2-40B4-BE49-F238E27FC236}">
                <a16:creationId xmlns:a16="http://schemas.microsoft.com/office/drawing/2014/main" id="{77EB43D5-7CB4-278B-EF7D-39F45DBF81D0}"/>
              </a:ext>
            </a:extLst>
          </p:cNvPr>
          <p:cNvSpPr>
            <a:spLocks noGrp="1"/>
          </p:cNvSpPr>
          <p:nvPr>
            <p:ph type="sldNum" sz="quarter" idx="12"/>
          </p:nvPr>
        </p:nvSpPr>
        <p:spPr/>
        <p:txBody>
          <a:bodyPr/>
          <a:lstStyle/>
          <a:p>
            <a:fld id="{4118D7DC-84C5-45D3-BF8A-BA4205260971}" type="slidenum">
              <a:rPr lang="en-DE" smtClean="0"/>
              <a:t>8</a:t>
            </a:fld>
            <a:endParaRPr lang="en-DE"/>
          </a:p>
        </p:txBody>
      </p:sp>
    </p:spTree>
    <p:extLst>
      <p:ext uri="{BB962C8B-B14F-4D97-AF65-F5344CB8AC3E}">
        <p14:creationId xmlns:p14="http://schemas.microsoft.com/office/powerpoint/2010/main" val="41502303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E5DD4-746E-CA9A-772C-A3E5AEEB5CA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9FDF035-1831-8467-DEF4-14A3E0C4A2A4}"/>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Aufbau des Projektes</a:t>
            </a:r>
            <a:endParaRPr lang="en-DE" sz="5400" b="1" dirty="0">
              <a:solidFill>
                <a:srgbClr val="7FB6D3"/>
              </a:solidFill>
              <a:latin typeface="Chiller" panose="04020404031007020602" pitchFamily="82" charset="0"/>
            </a:endParaRPr>
          </a:p>
        </p:txBody>
      </p:sp>
      <p:graphicFrame>
        <p:nvGraphicFramePr>
          <p:cNvPr id="5" name="Inhaltsplatzhalter 4">
            <a:extLst>
              <a:ext uri="{FF2B5EF4-FFF2-40B4-BE49-F238E27FC236}">
                <a16:creationId xmlns:a16="http://schemas.microsoft.com/office/drawing/2014/main" id="{DE3DB582-73E7-EF5D-125B-A453A40E0D19}"/>
              </a:ext>
            </a:extLst>
          </p:cNvPr>
          <p:cNvGraphicFramePr>
            <a:graphicFrameLocks noGrp="1"/>
          </p:cNvGraphicFramePr>
          <p:nvPr>
            <p:ph idx="1"/>
            <p:extLst>
              <p:ext uri="{D42A27DB-BD31-4B8C-83A1-F6EECF244321}">
                <p14:modId xmlns:p14="http://schemas.microsoft.com/office/powerpoint/2010/main" val="4149631489"/>
              </p:ext>
            </p:extLst>
          </p:nvPr>
        </p:nvGraphicFramePr>
        <p:xfrm>
          <a:off x="838200" y="1825625"/>
          <a:ext cx="10515597" cy="4320000"/>
        </p:xfrm>
        <a:graphic>
          <a:graphicData uri="http://schemas.openxmlformats.org/drawingml/2006/table">
            <a:tbl>
              <a:tblPr bandRow="1">
                <a:tableStyleId>{9D7B26C5-4107-4FEC-AEDC-1716B250A1EF}</a:tableStyleId>
              </a:tblPr>
              <a:tblGrid>
                <a:gridCol w="685800">
                  <a:extLst>
                    <a:ext uri="{9D8B030D-6E8A-4147-A177-3AD203B41FA5}">
                      <a16:colId xmlns:a16="http://schemas.microsoft.com/office/drawing/2014/main" val="299656476"/>
                    </a:ext>
                  </a:extLst>
                </a:gridCol>
                <a:gridCol w="2082800">
                  <a:extLst>
                    <a:ext uri="{9D8B030D-6E8A-4147-A177-3AD203B41FA5}">
                      <a16:colId xmlns:a16="http://schemas.microsoft.com/office/drawing/2014/main" val="655359011"/>
                    </a:ext>
                  </a:extLst>
                </a:gridCol>
                <a:gridCol w="7746997">
                  <a:extLst>
                    <a:ext uri="{9D8B030D-6E8A-4147-A177-3AD203B41FA5}">
                      <a16:colId xmlns:a16="http://schemas.microsoft.com/office/drawing/2014/main" val="2310920565"/>
                    </a:ext>
                  </a:extLst>
                </a:gridCol>
              </a:tblGrid>
              <a:tr h="540000">
                <a:tc>
                  <a:txBody>
                    <a:bodyPr/>
                    <a:lstStyle/>
                    <a:p>
                      <a:endParaRPr lang="en-DE" dirty="0"/>
                    </a:p>
                  </a:txBody>
                  <a:tcPr/>
                </a:tc>
                <a:tc>
                  <a:txBody>
                    <a:bodyPr/>
                    <a:lstStyle/>
                    <a:p>
                      <a:r>
                        <a:rPr lang="de-DE" sz="2400" dirty="0">
                          <a:solidFill>
                            <a:srgbClr val="7FB6D3"/>
                          </a:solidFill>
                        </a:rPr>
                        <a:t>assets</a:t>
                      </a:r>
                      <a:endParaRPr lang="en-DE" sz="2400" dirty="0">
                        <a:solidFill>
                          <a:srgbClr val="7FB6D3"/>
                        </a:solidFill>
                      </a:endParaRPr>
                    </a:p>
                  </a:txBody>
                  <a:tcPr anchor="ctr"/>
                </a:tc>
                <a:tc>
                  <a:txBody>
                    <a:bodyPr/>
                    <a:lstStyle/>
                    <a:p>
                      <a:r>
                        <a:rPr lang="de-DE" sz="2400" dirty="0">
                          <a:solidFill>
                            <a:srgbClr val="7FB6D3"/>
                          </a:solidFill>
                        </a:rPr>
                        <a:t>Bilder des Spieles, Sounds gibt es nicht</a:t>
                      </a:r>
                      <a:endParaRPr lang="en-DE" sz="2400" dirty="0">
                        <a:solidFill>
                          <a:srgbClr val="7FB6D3"/>
                        </a:solidFill>
                      </a:endParaRPr>
                    </a:p>
                  </a:txBody>
                  <a:tcPr anchor="ctr"/>
                </a:tc>
                <a:extLst>
                  <a:ext uri="{0D108BD9-81ED-4DB2-BD59-A6C34878D82A}">
                    <a16:rowId xmlns:a16="http://schemas.microsoft.com/office/drawing/2014/main" val="969292244"/>
                  </a:ext>
                </a:extLst>
              </a:tr>
              <a:tr h="540000">
                <a:tc>
                  <a:txBody>
                    <a:bodyPr/>
                    <a:lstStyle/>
                    <a:p>
                      <a:endParaRPr lang="en-DE" dirty="0"/>
                    </a:p>
                  </a:txBody>
                  <a:tcPr/>
                </a:tc>
                <a:tc>
                  <a:txBody>
                    <a:bodyPr/>
                    <a:lstStyle/>
                    <a:p>
                      <a:r>
                        <a:rPr lang="de-DE" sz="2400" dirty="0">
                          <a:solidFill>
                            <a:srgbClr val="7FB6D3"/>
                          </a:solidFill>
                        </a:rPr>
                        <a:t>data</a:t>
                      </a:r>
                      <a:endParaRPr lang="en-DE" sz="2400" dirty="0">
                        <a:solidFill>
                          <a:srgbClr val="7FB6D3"/>
                        </a:solidFill>
                      </a:endParaRPr>
                    </a:p>
                  </a:txBody>
                  <a:tcPr anchor="ctr"/>
                </a:tc>
                <a:tc>
                  <a:txBody>
                    <a:bodyPr/>
                    <a:lstStyle/>
                    <a:p>
                      <a:r>
                        <a:rPr lang="de-DE" sz="2400" dirty="0">
                          <a:solidFill>
                            <a:srgbClr val="7FB6D3"/>
                          </a:solidFill>
                        </a:rPr>
                        <a:t>Unveränderliche Daten wie Strings oder Tabellen </a:t>
                      </a:r>
                      <a:endParaRPr lang="en-DE" sz="2400" dirty="0">
                        <a:solidFill>
                          <a:srgbClr val="7FB6D3"/>
                        </a:solidFill>
                      </a:endParaRPr>
                    </a:p>
                  </a:txBody>
                  <a:tcPr anchor="ctr"/>
                </a:tc>
                <a:extLst>
                  <a:ext uri="{0D108BD9-81ED-4DB2-BD59-A6C34878D82A}">
                    <a16:rowId xmlns:a16="http://schemas.microsoft.com/office/drawing/2014/main" val="1454802435"/>
                  </a:ext>
                </a:extLst>
              </a:tr>
              <a:tr h="540000">
                <a:tc>
                  <a:txBody>
                    <a:bodyPr/>
                    <a:lstStyle/>
                    <a:p>
                      <a:endParaRPr lang="en-DE"/>
                    </a:p>
                  </a:txBody>
                  <a:tcPr/>
                </a:tc>
                <a:tc>
                  <a:txBody>
                    <a:bodyPr/>
                    <a:lstStyle/>
                    <a:p>
                      <a:r>
                        <a:rPr lang="de-DE" sz="2400" dirty="0">
                          <a:solidFill>
                            <a:srgbClr val="7FB6D3"/>
                          </a:solidFill>
                        </a:rPr>
                        <a:t>layout</a:t>
                      </a:r>
                      <a:endParaRPr lang="en-DE" sz="2400" dirty="0">
                        <a:solidFill>
                          <a:srgbClr val="7FB6D3"/>
                        </a:solidFill>
                      </a:endParaRPr>
                    </a:p>
                  </a:txBody>
                  <a:tcPr anchor="ctr"/>
                </a:tc>
                <a:tc>
                  <a:txBody>
                    <a:bodyPr/>
                    <a:lstStyle/>
                    <a:p>
                      <a:r>
                        <a:rPr lang="de-DE" sz="2400" dirty="0">
                          <a:solidFill>
                            <a:srgbClr val="7FB6D3"/>
                          </a:solidFill>
                        </a:rPr>
                        <a:t>Komponenten die allgemein das Layout beschreiben</a:t>
                      </a:r>
                      <a:endParaRPr lang="en-DE" sz="2400" dirty="0">
                        <a:solidFill>
                          <a:srgbClr val="7FB6D3"/>
                        </a:solidFill>
                      </a:endParaRPr>
                    </a:p>
                  </a:txBody>
                  <a:tcPr anchor="ctr"/>
                </a:tc>
                <a:extLst>
                  <a:ext uri="{0D108BD9-81ED-4DB2-BD59-A6C34878D82A}">
                    <a16:rowId xmlns:a16="http://schemas.microsoft.com/office/drawing/2014/main" val="2911152712"/>
                  </a:ext>
                </a:extLst>
              </a:tr>
              <a:tr h="540000">
                <a:tc>
                  <a:txBody>
                    <a:bodyPr/>
                    <a:lstStyle/>
                    <a:p>
                      <a:endParaRPr lang="en-DE"/>
                    </a:p>
                  </a:txBody>
                  <a:tcPr/>
                </a:tc>
                <a:tc>
                  <a:txBody>
                    <a:bodyPr/>
                    <a:lstStyle/>
                    <a:p>
                      <a:r>
                        <a:rPr lang="de-DE" sz="2400" dirty="0">
                          <a:solidFill>
                            <a:srgbClr val="7FB6D3"/>
                          </a:solidFill>
                        </a:rPr>
                        <a:t>playground</a:t>
                      </a:r>
                      <a:endParaRPr lang="en-DE" sz="2400" dirty="0">
                        <a:solidFill>
                          <a:srgbClr val="7FB6D3"/>
                        </a:solidFill>
                      </a:endParaRPr>
                    </a:p>
                  </a:txBody>
                  <a:tcPr anchor="ctr"/>
                </a:tc>
                <a:tc>
                  <a:txBody>
                    <a:bodyPr/>
                    <a:lstStyle/>
                    <a:p>
                      <a:r>
                        <a:rPr lang="de-DE" sz="2400" dirty="0">
                          <a:solidFill>
                            <a:srgbClr val="7FB6D3"/>
                          </a:solidFill>
                        </a:rPr>
                        <a:t>Orte/Seiten in der sich der Spieler bewegt</a:t>
                      </a:r>
                      <a:endParaRPr lang="en-DE" sz="2400" dirty="0">
                        <a:solidFill>
                          <a:srgbClr val="7FB6D3"/>
                        </a:solidFill>
                      </a:endParaRPr>
                    </a:p>
                  </a:txBody>
                  <a:tcPr anchor="ctr"/>
                </a:tc>
                <a:extLst>
                  <a:ext uri="{0D108BD9-81ED-4DB2-BD59-A6C34878D82A}">
                    <a16:rowId xmlns:a16="http://schemas.microsoft.com/office/drawing/2014/main" val="796936465"/>
                  </a:ext>
                </a:extLst>
              </a:tr>
              <a:tr h="540000">
                <a:tc>
                  <a:txBody>
                    <a:bodyPr/>
                    <a:lstStyle/>
                    <a:p>
                      <a:endParaRPr lang="en-DE"/>
                    </a:p>
                  </a:txBody>
                  <a:tcPr/>
                </a:tc>
                <a:tc>
                  <a:txBody>
                    <a:bodyPr/>
                    <a:lstStyle/>
                    <a:p>
                      <a:r>
                        <a:rPr lang="de-DE" sz="2400" dirty="0">
                          <a:solidFill>
                            <a:srgbClr val="7FB6D3"/>
                          </a:solidFill>
                        </a:rPr>
                        <a:t>routings</a:t>
                      </a:r>
                      <a:endParaRPr lang="en-DE" sz="2400" dirty="0">
                        <a:solidFill>
                          <a:srgbClr val="7FB6D3"/>
                        </a:solidFill>
                      </a:endParaRPr>
                    </a:p>
                  </a:txBody>
                  <a:tcPr anchor="ctr"/>
                </a:tc>
                <a:tc>
                  <a:txBody>
                    <a:bodyPr/>
                    <a:lstStyle/>
                    <a:p>
                      <a:r>
                        <a:rPr lang="de-DE" sz="2400" dirty="0">
                          <a:solidFill>
                            <a:srgbClr val="7FB6D3"/>
                          </a:solidFill>
                        </a:rPr>
                        <a:t>Collections der Routings und deren Komponenten</a:t>
                      </a:r>
                      <a:endParaRPr lang="en-DE" sz="2400" dirty="0">
                        <a:solidFill>
                          <a:srgbClr val="7FB6D3"/>
                        </a:solidFill>
                      </a:endParaRPr>
                    </a:p>
                  </a:txBody>
                  <a:tcPr anchor="ctr"/>
                </a:tc>
                <a:extLst>
                  <a:ext uri="{0D108BD9-81ED-4DB2-BD59-A6C34878D82A}">
                    <a16:rowId xmlns:a16="http://schemas.microsoft.com/office/drawing/2014/main" val="2468642799"/>
                  </a:ext>
                </a:extLst>
              </a:tr>
              <a:tr h="540000">
                <a:tc>
                  <a:txBody>
                    <a:bodyPr/>
                    <a:lstStyle/>
                    <a:p>
                      <a:endParaRPr lang="en-DE" dirty="0"/>
                    </a:p>
                  </a:txBody>
                  <a:tcPr/>
                </a:tc>
                <a:tc>
                  <a:txBody>
                    <a:bodyPr/>
                    <a:lstStyle/>
                    <a:p>
                      <a:r>
                        <a:rPr lang="de-DE" sz="2400" dirty="0">
                          <a:solidFill>
                            <a:srgbClr val="7FB6D3"/>
                          </a:solidFill>
                        </a:rPr>
                        <a:t>store</a:t>
                      </a:r>
                      <a:endParaRPr lang="en-DE" sz="2400" dirty="0">
                        <a:solidFill>
                          <a:srgbClr val="7FB6D3"/>
                        </a:solidFill>
                      </a:endParaRPr>
                    </a:p>
                  </a:txBody>
                  <a:tcPr anchor="ctr"/>
                </a:tc>
                <a:tc>
                  <a:txBody>
                    <a:bodyPr/>
                    <a:lstStyle/>
                    <a:p>
                      <a:r>
                        <a:rPr lang="de-DE" sz="2400" dirty="0">
                          <a:solidFill>
                            <a:srgbClr val="7FB6D3"/>
                          </a:solidFill>
                        </a:rPr>
                        <a:t>State Management</a:t>
                      </a:r>
                      <a:endParaRPr lang="en-DE" sz="2400" dirty="0">
                        <a:solidFill>
                          <a:srgbClr val="7FB6D3"/>
                        </a:solidFill>
                      </a:endParaRPr>
                    </a:p>
                  </a:txBody>
                  <a:tcPr anchor="ctr"/>
                </a:tc>
                <a:extLst>
                  <a:ext uri="{0D108BD9-81ED-4DB2-BD59-A6C34878D82A}">
                    <a16:rowId xmlns:a16="http://schemas.microsoft.com/office/drawing/2014/main" val="1398459408"/>
                  </a:ext>
                </a:extLst>
              </a:tr>
              <a:tr h="540000">
                <a:tc>
                  <a:txBody>
                    <a:bodyPr/>
                    <a:lstStyle/>
                    <a:p>
                      <a:endParaRPr lang="en-DE" dirty="0"/>
                    </a:p>
                  </a:txBody>
                  <a:tcPr/>
                </a:tc>
                <a:tc>
                  <a:txBody>
                    <a:bodyPr/>
                    <a:lstStyle/>
                    <a:p>
                      <a:r>
                        <a:rPr lang="de-DE" sz="2400" dirty="0">
                          <a:solidFill>
                            <a:srgbClr val="7FB6D3"/>
                          </a:solidFill>
                        </a:rPr>
                        <a:t>styles</a:t>
                      </a:r>
                      <a:endParaRPr lang="en-DE" sz="2400" dirty="0">
                        <a:solidFill>
                          <a:srgbClr val="7FB6D3"/>
                        </a:solidFill>
                      </a:endParaRPr>
                    </a:p>
                  </a:txBody>
                  <a:tcPr anchor="ctr"/>
                </a:tc>
                <a:tc>
                  <a:txBody>
                    <a:bodyPr/>
                    <a:lstStyle/>
                    <a:p>
                      <a:r>
                        <a:rPr lang="de-DE" sz="2400" dirty="0">
                          <a:solidFill>
                            <a:srgbClr val="7FB6D3"/>
                          </a:solidFill>
                        </a:rPr>
                        <a:t>CSS Dateien</a:t>
                      </a:r>
                      <a:endParaRPr lang="en-DE" sz="2400" dirty="0">
                        <a:solidFill>
                          <a:srgbClr val="7FB6D3"/>
                        </a:solidFill>
                      </a:endParaRPr>
                    </a:p>
                  </a:txBody>
                  <a:tcPr anchor="ctr"/>
                </a:tc>
                <a:extLst>
                  <a:ext uri="{0D108BD9-81ED-4DB2-BD59-A6C34878D82A}">
                    <a16:rowId xmlns:a16="http://schemas.microsoft.com/office/drawing/2014/main" val="125561715"/>
                  </a:ext>
                </a:extLst>
              </a:tr>
              <a:tr h="540000">
                <a:tc>
                  <a:txBody>
                    <a:bodyPr/>
                    <a:lstStyle/>
                    <a:p>
                      <a:endParaRPr lang="en-DE" dirty="0"/>
                    </a:p>
                  </a:txBody>
                  <a:tcPr/>
                </a:tc>
                <a:tc>
                  <a:txBody>
                    <a:bodyPr/>
                    <a:lstStyle/>
                    <a:p>
                      <a:r>
                        <a:rPr lang="de-DE" sz="2400" dirty="0">
                          <a:solidFill>
                            <a:srgbClr val="7FB6D3"/>
                          </a:solidFill>
                        </a:rPr>
                        <a:t>utility</a:t>
                      </a:r>
                      <a:endParaRPr lang="en-DE" sz="2400" dirty="0">
                        <a:solidFill>
                          <a:srgbClr val="7FB6D3"/>
                        </a:solidFill>
                      </a:endParaRPr>
                    </a:p>
                  </a:txBody>
                  <a:tcPr anchor="ctr"/>
                </a:tc>
                <a:tc>
                  <a:txBody>
                    <a:bodyPr/>
                    <a:lstStyle/>
                    <a:p>
                      <a:r>
                        <a:rPr lang="de-DE" sz="2400" dirty="0">
                          <a:solidFill>
                            <a:srgbClr val="7FB6D3"/>
                          </a:solidFill>
                        </a:rPr>
                        <a:t>Hilfsfunktionen, Hooks und Editoren</a:t>
                      </a:r>
                      <a:endParaRPr lang="en-DE" sz="2400" dirty="0">
                        <a:solidFill>
                          <a:srgbClr val="7FB6D3"/>
                        </a:solidFill>
                      </a:endParaRPr>
                    </a:p>
                  </a:txBody>
                  <a:tcPr anchor="ctr"/>
                </a:tc>
                <a:extLst>
                  <a:ext uri="{0D108BD9-81ED-4DB2-BD59-A6C34878D82A}">
                    <a16:rowId xmlns:a16="http://schemas.microsoft.com/office/drawing/2014/main" val="997803402"/>
                  </a:ext>
                </a:extLst>
              </a:tr>
            </a:tbl>
          </a:graphicData>
        </a:graphic>
      </p:graphicFrame>
      <p:pic>
        <p:nvPicPr>
          <p:cNvPr id="7" name="Grafik 6" descr="Geöffneter Ordner mit einfarbiger Füllung">
            <a:extLst>
              <a:ext uri="{FF2B5EF4-FFF2-40B4-BE49-F238E27FC236}">
                <a16:creationId xmlns:a16="http://schemas.microsoft.com/office/drawing/2014/main" id="{9FB95AF0-0A20-9B04-45FD-7DE3CC973C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5825" y="2292350"/>
            <a:ext cx="679450" cy="679450"/>
          </a:xfrm>
          <a:prstGeom prst="rect">
            <a:avLst/>
          </a:prstGeom>
        </p:spPr>
      </p:pic>
      <p:pic>
        <p:nvPicPr>
          <p:cNvPr id="9" name="Grafik 8" descr="Geöffneter Ordner mit einfarbiger Füllung">
            <a:extLst>
              <a:ext uri="{FF2B5EF4-FFF2-40B4-BE49-F238E27FC236}">
                <a16:creationId xmlns:a16="http://schemas.microsoft.com/office/drawing/2014/main" id="{80417D4B-DDE9-0774-AC86-9C271CD151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5825" y="1746250"/>
            <a:ext cx="679450" cy="679450"/>
          </a:xfrm>
          <a:prstGeom prst="rect">
            <a:avLst/>
          </a:prstGeom>
        </p:spPr>
      </p:pic>
      <p:pic>
        <p:nvPicPr>
          <p:cNvPr id="14" name="Grafik 13" descr="Geöffneter Ordner mit einfarbiger Füllung">
            <a:extLst>
              <a:ext uri="{FF2B5EF4-FFF2-40B4-BE49-F238E27FC236}">
                <a16:creationId xmlns:a16="http://schemas.microsoft.com/office/drawing/2014/main" id="{EF079B74-530C-D427-C28C-1D71C9C200F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5825" y="3380787"/>
            <a:ext cx="679450" cy="679450"/>
          </a:xfrm>
          <a:prstGeom prst="rect">
            <a:avLst/>
          </a:prstGeom>
        </p:spPr>
      </p:pic>
      <p:pic>
        <p:nvPicPr>
          <p:cNvPr id="15" name="Grafik 14" descr="Geöffneter Ordner mit einfarbiger Füllung">
            <a:extLst>
              <a:ext uri="{FF2B5EF4-FFF2-40B4-BE49-F238E27FC236}">
                <a16:creationId xmlns:a16="http://schemas.microsoft.com/office/drawing/2014/main" id="{7664B8E6-FA8D-F6DF-810F-4428737D86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5825" y="2834687"/>
            <a:ext cx="679450" cy="679450"/>
          </a:xfrm>
          <a:prstGeom prst="rect">
            <a:avLst/>
          </a:prstGeom>
        </p:spPr>
      </p:pic>
      <p:pic>
        <p:nvPicPr>
          <p:cNvPr id="16" name="Grafik 15" descr="Geöffneter Ordner mit einfarbiger Füllung">
            <a:extLst>
              <a:ext uri="{FF2B5EF4-FFF2-40B4-BE49-F238E27FC236}">
                <a16:creationId xmlns:a16="http://schemas.microsoft.com/office/drawing/2014/main" id="{235E2264-B529-A12E-4FDF-4561E0166C84}"/>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85825" y="4456524"/>
            <a:ext cx="679450" cy="679450"/>
          </a:xfrm>
          <a:prstGeom prst="rect">
            <a:avLst/>
          </a:prstGeom>
        </p:spPr>
      </p:pic>
      <p:pic>
        <p:nvPicPr>
          <p:cNvPr id="17" name="Grafik 16" descr="Geöffneter Ordner mit einfarbiger Füllung">
            <a:extLst>
              <a:ext uri="{FF2B5EF4-FFF2-40B4-BE49-F238E27FC236}">
                <a16:creationId xmlns:a16="http://schemas.microsoft.com/office/drawing/2014/main" id="{AA99A9A5-B769-99D6-7C30-6BA247027DE1}"/>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85825" y="3910424"/>
            <a:ext cx="679450" cy="679450"/>
          </a:xfrm>
          <a:prstGeom prst="rect">
            <a:avLst/>
          </a:prstGeom>
        </p:spPr>
      </p:pic>
      <p:pic>
        <p:nvPicPr>
          <p:cNvPr id="18" name="Grafik 17" descr="Geöffneter Ordner mit einfarbiger Füllung">
            <a:extLst>
              <a:ext uri="{FF2B5EF4-FFF2-40B4-BE49-F238E27FC236}">
                <a16:creationId xmlns:a16="http://schemas.microsoft.com/office/drawing/2014/main" id="{A0E05DD0-B4E4-38CD-5476-6A8654BF935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85825" y="5534848"/>
            <a:ext cx="679450" cy="679450"/>
          </a:xfrm>
          <a:prstGeom prst="rect">
            <a:avLst/>
          </a:prstGeom>
        </p:spPr>
      </p:pic>
      <p:pic>
        <p:nvPicPr>
          <p:cNvPr id="19" name="Grafik 18" descr="Geöffneter Ordner mit einfarbiger Füllung">
            <a:extLst>
              <a:ext uri="{FF2B5EF4-FFF2-40B4-BE49-F238E27FC236}">
                <a16:creationId xmlns:a16="http://schemas.microsoft.com/office/drawing/2014/main" id="{CFFF9517-5775-8471-BA2F-FD2F920C1A76}"/>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85825" y="4988748"/>
            <a:ext cx="679450" cy="679450"/>
          </a:xfrm>
          <a:prstGeom prst="rect">
            <a:avLst/>
          </a:prstGeom>
        </p:spPr>
      </p:pic>
      <p:sp>
        <p:nvSpPr>
          <p:cNvPr id="3" name="Foliennummernplatzhalter 2">
            <a:extLst>
              <a:ext uri="{FF2B5EF4-FFF2-40B4-BE49-F238E27FC236}">
                <a16:creationId xmlns:a16="http://schemas.microsoft.com/office/drawing/2014/main" id="{5B588823-91CF-C7F1-1E4A-DB6942BCE0DA}"/>
              </a:ext>
            </a:extLst>
          </p:cNvPr>
          <p:cNvSpPr>
            <a:spLocks noGrp="1"/>
          </p:cNvSpPr>
          <p:nvPr>
            <p:ph type="sldNum" sz="quarter" idx="12"/>
          </p:nvPr>
        </p:nvSpPr>
        <p:spPr/>
        <p:txBody>
          <a:bodyPr/>
          <a:lstStyle/>
          <a:p>
            <a:fld id="{4118D7DC-84C5-45D3-BF8A-BA4205260971}" type="slidenum">
              <a:rPr lang="en-DE" smtClean="0"/>
              <a:t>9</a:t>
            </a:fld>
            <a:endParaRPr lang="en-DE"/>
          </a:p>
        </p:txBody>
      </p:sp>
    </p:spTree>
    <p:extLst>
      <p:ext uri="{BB962C8B-B14F-4D97-AF65-F5344CB8AC3E}">
        <p14:creationId xmlns:p14="http://schemas.microsoft.com/office/powerpoint/2010/main" val="36078600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67846-9620-A7C8-4E98-092CE0AD933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8074211-F6A2-9327-2CEC-CBB67B7E3F00}"/>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Aufbau eines Ortes</a:t>
            </a:r>
            <a:endParaRPr lang="en-DE" sz="5400" b="1" dirty="0">
              <a:solidFill>
                <a:srgbClr val="7FB6D3"/>
              </a:solidFill>
              <a:latin typeface="Chiller" panose="04020404031007020602" pitchFamily="82" charset="0"/>
            </a:endParaRPr>
          </a:p>
        </p:txBody>
      </p:sp>
      <p:graphicFrame>
        <p:nvGraphicFramePr>
          <p:cNvPr id="5" name="Inhaltsplatzhalter 4">
            <a:extLst>
              <a:ext uri="{FF2B5EF4-FFF2-40B4-BE49-F238E27FC236}">
                <a16:creationId xmlns:a16="http://schemas.microsoft.com/office/drawing/2014/main" id="{3E28CEF6-7FBC-D668-0423-5551265DCF81}"/>
              </a:ext>
            </a:extLst>
          </p:cNvPr>
          <p:cNvGraphicFramePr>
            <a:graphicFrameLocks noGrp="1"/>
          </p:cNvGraphicFramePr>
          <p:nvPr>
            <p:ph idx="1"/>
            <p:extLst>
              <p:ext uri="{D42A27DB-BD31-4B8C-83A1-F6EECF244321}">
                <p14:modId xmlns:p14="http://schemas.microsoft.com/office/powerpoint/2010/main" val="1948508296"/>
              </p:ext>
            </p:extLst>
          </p:nvPr>
        </p:nvGraphicFramePr>
        <p:xfrm>
          <a:off x="838200" y="1825625"/>
          <a:ext cx="10515597" cy="4320000"/>
        </p:xfrm>
        <a:graphic>
          <a:graphicData uri="http://schemas.openxmlformats.org/drawingml/2006/table">
            <a:tbl>
              <a:tblPr bandRow="1">
                <a:tableStyleId>{9D7B26C5-4107-4FEC-AEDC-1716B250A1EF}</a:tableStyleId>
              </a:tblPr>
              <a:tblGrid>
                <a:gridCol w="685800">
                  <a:extLst>
                    <a:ext uri="{9D8B030D-6E8A-4147-A177-3AD203B41FA5}">
                      <a16:colId xmlns:a16="http://schemas.microsoft.com/office/drawing/2014/main" val="299656476"/>
                    </a:ext>
                  </a:extLst>
                </a:gridCol>
                <a:gridCol w="3365500">
                  <a:extLst>
                    <a:ext uri="{9D8B030D-6E8A-4147-A177-3AD203B41FA5}">
                      <a16:colId xmlns:a16="http://schemas.microsoft.com/office/drawing/2014/main" val="655359011"/>
                    </a:ext>
                  </a:extLst>
                </a:gridCol>
                <a:gridCol w="6464297">
                  <a:extLst>
                    <a:ext uri="{9D8B030D-6E8A-4147-A177-3AD203B41FA5}">
                      <a16:colId xmlns:a16="http://schemas.microsoft.com/office/drawing/2014/main" val="2310920565"/>
                    </a:ext>
                  </a:extLst>
                </a:gridCol>
              </a:tblGrid>
              <a:tr h="540000">
                <a:tc>
                  <a:txBody>
                    <a:bodyPr/>
                    <a:lstStyle/>
                    <a:p>
                      <a:endParaRPr lang="en-DE" dirty="0"/>
                    </a:p>
                  </a:txBody>
                  <a:tcPr/>
                </a:tc>
                <a:tc>
                  <a:txBody>
                    <a:bodyPr/>
                    <a:lstStyle/>
                    <a:p>
                      <a:r>
                        <a:rPr lang="de-DE" sz="2400" dirty="0">
                          <a:solidFill>
                            <a:srgbClr val="7FB6D3"/>
                          </a:solidFill>
                        </a:rPr>
                        <a:t>playground</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969292244"/>
                  </a:ext>
                </a:extLst>
              </a:tr>
              <a:tr h="540000">
                <a:tc>
                  <a:txBody>
                    <a:bodyPr/>
                    <a:lstStyle/>
                    <a:p>
                      <a:endParaRPr lang="en-DE" dirty="0"/>
                    </a:p>
                  </a:txBody>
                  <a:tcPr/>
                </a:tc>
                <a:tc>
                  <a:txBody>
                    <a:bodyPr/>
                    <a:lstStyle/>
                    <a:p>
                      <a:r>
                        <a:rPr lang="de-DE" sz="2400" dirty="0">
                          <a:solidFill>
                            <a:srgbClr val="7FB6D3"/>
                          </a:solidFill>
                        </a:rPr>
                        <a:t>   lahtheim</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1454802435"/>
                  </a:ext>
                </a:extLst>
              </a:tr>
              <a:tr h="540000">
                <a:tc>
                  <a:txBody>
                    <a:bodyPr/>
                    <a:lstStyle/>
                    <a:p>
                      <a:endParaRPr lang="en-DE"/>
                    </a:p>
                  </a:txBody>
                  <a:tcPr/>
                </a:tc>
                <a:tc>
                  <a:txBody>
                    <a:bodyPr/>
                    <a:lstStyle/>
                    <a:p>
                      <a:r>
                        <a:rPr lang="de-DE" sz="2400" dirty="0">
                          <a:solidFill>
                            <a:srgbClr val="7FB6D3"/>
                          </a:solidFill>
                        </a:rPr>
                        <a:t>      center</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2911152712"/>
                  </a:ext>
                </a:extLst>
              </a:tr>
              <a:tr h="540000">
                <a:tc>
                  <a:txBody>
                    <a:bodyPr/>
                    <a:lstStyle/>
                    <a:p>
                      <a:endParaRPr lang="en-DE"/>
                    </a:p>
                  </a:txBody>
                  <a:tcPr/>
                </a:tc>
                <a:tc>
                  <a:txBody>
                    <a:bodyPr/>
                    <a:lstStyle/>
                    <a:p>
                      <a:r>
                        <a:rPr lang="de-DE" sz="2400" dirty="0">
                          <a:solidFill>
                            <a:srgbClr val="7FB6D3"/>
                          </a:solidFill>
                        </a:rPr>
                        <a:t>         church</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796936465"/>
                  </a:ext>
                </a:extLst>
              </a:tr>
              <a:tr h="540000">
                <a:tc>
                  <a:txBody>
                    <a:bodyPr/>
                    <a:lstStyle/>
                    <a:p>
                      <a:endParaRPr lang="en-DE"/>
                    </a:p>
                  </a:txBody>
                  <a:tcPr/>
                </a:tc>
                <a:tc>
                  <a:txBody>
                    <a:bodyPr/>
                    <a:lstStyle/>
                    <a:p>
                      <a:r>
                        <a:rPr lang="de-DE" sz="2400" dirty="0">
                          <a:solidFill>
                            <a:srgbClr val="7FB6D3"/>
                          </a:solidFill>
                        </a:rPr>
                        <a:t>            </a:t>
                      </a:r>
                      <a:r>
                        <a:rPr lang="de-DE" sz="2400" dirty="0">
                          <a:solidFill>
                            <a:schemeClr val="bg1">
                              <a:lumMod val="85000"/>
                            </a:schemeClr>
                          </a:solidFill>
                        </a:rPr>
                        <a:t>Church</a:t>
                      </a:r>
                      <a:r>
                        <a:rPr lang="de-DE" sz="2400" dirty="0">
                          <a:solidFill>
                            <a:srgbClr val="7FB6D3"/>
                          </a:solidFill>
                        </a:rPr>
                        <a:t>.tsx</a:t>
                      </a:r>
                      <a:endParaRPr lang="en-DE" sz="2400" dirty="0">
                        <a:solidFill>
                          <a:srgbClr val="7FB6D3"/>
                        </a:solidFill>
                      </a:endParaRPr>
                    </a:p>
                  </a:txBody>
                  <a:tcPr anchor="ctr"/>
                </a:tc>
                <a:tc>
                  <a:txBody>
                    <a:bodyPr/>
                    <a:lstStyle/>
                    <a:p>
                      <a:r>
                        <a:rPr lang="de-DE" sz="2400" dirty="0">
                          <a:solidFill>
                            <a:srgbClr val="7FB6D3"/>
                          </a:solidFill>
                        </a:rPr>
                        <a:t>Hauptseite mit Beschreibung Tag/Nacht</a:t>
                      </a:r>
                      <a:endParaRPr lang="en-DE" sz="2400" dirty="0">
                        <a:solidFill>
                          <a:srgbClr val="7FB6D3"/>
                        </a:solidFill>
                      </a:endParaRPr>
                    </a:p>
                  </a:txBody>
                  <a:tcPr anchor="ctr"/>
                </a:tc>
                <a:extLst>
                  <a:ext uri="{0D108BD9-81ED-4DB2-BD59-A6C34878D82A}">
                    <a16:rowId xmlns:a16="http://schemas.microsoft.com/office/drawing/2014/main" val="2468642799"/>
                  </a:ext>
                </a:extLst>
              </a:tr>
              <a:tr h="540000">
                <a:tc>
                  <a:txBody>
                    <a:bodyPr/>
                    <a:lstStyle/>
                    <a:p>
                      <a:endParaRPr lang="en-DE" dirty="0"/>
                    </a:p>
                  </a:txBody>
                  <a:tcPr/>
                </a:tc>
                <a:tc>
                  <a:txBody>
                    <a:bodyPr/>
                    <a:lstStyle/>
                    <a:p>
                      <a:r>
                        <a:rPr lang="de-DE" sz="2400" dirty="0">
                          <a:solidFill>
                            <a:srgbClr val="7FB6D3"/>
                          </a:solidFill>
                        </a:rPr>
                        <a:t>            Church</a:t>
                      </a:r>
                      <a:r>
                        <a:rPr lang="de-DE" sz="2400" dirty="0">
                          <a:solidFill>
                            <a:schemeClr val="bg1">
                              <a:lumMod val="85000"/>
                            </a:schemeClr>
                          </a:solidFill>
                        </a:rPr>
                        <a:t>Navi</a:t>
                      </a:r>
                      <a:r>
                        <a:rPr lang="de-DE" sz="2400" dirty="0">
                          <a:solidFill>
                            <a:srgbClr val="7FB6D3"/>
                          </a:solidFill>
                        </a:rPr>
                        <a:t>.tsx</a:t>
                      </a:r>
                      <a:endParaRPr lang="en-DE" sz="2400" dirty="0">
                        <a:solidFill>
                          <a:srgbClr val="7FB6D3"/>
                        </a:solidFill>
                      </a:endParaRPr>
                    </a:p>
                  </a:txBody>
                  <a:tcPr anchor="ctr"/>
                </a:tc>
                <a:tc>
                  <a:txBody>
                    <a:bodyPr/>
                    <a:lstStyle/>
                    <a:p>
                      <a:r>
                        <a:rPr lang="de-DE" sz="2400" dirty="0">
                          <a:solidFill>
                            <a:srgbClr val="7FB6D3"/>
                          </a:solidFill>
                        </a:rPr>
                        <a:t>Navigation, um diesen Ort zu verlassen</a:t>
                      </a:r>
                      <a:endParaRPr lang="en-DE" sz="2400" dirty="0">
                        <a:solidFill>
                          <a:srgbClr val="7FB6D3"/>
                        </a:solidFill>
                      </a:endParaRPr>
                    </a:p>
                  </a:txBody>
                  <a:tcPr anchor="ctr"/>
                </a:tc>
                <a:extLst>
                  <a:ext uri="{0D108BD9-81ED-4DB2-BD59-A6C34878D82A}">
                    <a16:rowId xmlns:a16="http://schemas.microsoft.com/office/drawing/2014/main" val="1398459408"/>
                  </a:ext>
                </a:extLst>
              </a:tr>
              <a:tr h="540000">
                <a:tc>
                  <a:txBody>
                    <a:bodyPr/>
                    <a:lstStyle/>
                    <a:p>
                      <a:endParaRPr lang="en-DE" dirty="0"/>
                    </a:p>
                  </a:txBody>
                  <a:tcPr/>
                </a:tc>
                <a:tc>
                  <a:txBody>
                    <a:bodyPr/>
                    <a:lstStyle/>
                    <a:p>
                      <a:r>
                        <a:rPr lang="de-DE" sz="2400" dirty="0">
                          <a:solidFill>
                            <a:srgbClr val="7FB6D3"/>
                          </a:solidFill>
                        </a:rPr>
                        <a:t>            Church</a:t>
                      </a:r>
                      <a:r>
                        <a:rPr lang="de-DE" sz="2400" dirty="0">
                          <a:solidFill>
                            <a:schemeClr val="bg1">
                              <a:lumMod val="85000"/>
                            </a:schemeClr>
                          </a:solidFill>
                        </a:rPr>
                        <a:t>Donate</a:t>
                      </a:r>
                      <a:r>
                        <a:rPr lang="de-DE" sz="2400" dirty="0">
                          <a:solidFill>
                            <a:srgbClr val="7FB6D3"/>
                          </a:solidFill>
                        </a:rPr>
                        <a:t>.tsx</a:t>
                      </a:r>
                      <a:endParaRPr lang="en-DE" sz="2400" dirty="0">
                        <a:solidFill>
                          <a:srgbClr val="7FB6D3"/>
                        </a:solidFill>
                      </a:endParaRPr>
                    </a:p>
                  </a:txBody>
                  <a:tcPr anchor="ctr"/>
                </a:tc>
                <a:tc>
                  <a:txBody>
                    <a:bodyPr/>
                    <a:lstStyle/>
                    <a:p>
                      <a:r>
                        <a:rPr lang="de-DE" sz="2400" dirty="0">
                          <a:solidFill>
                            <a:srgbClr val="7FB6D3"/>
                          </a:solidFill>
                        </a:rPr>
                        <a:t>Bedingte Interaktion, mit Events oder Quests</a:t>
                      </a:r>
                      <a:endParaRPr lang="en-DE" sz="2400" dirty="0">
                        <a:solidFill>
                          <a:srgbClr val="7FB6D3"/>
                        </a:solidFill>
                      </a:endParaRPr>
                    </a:p>
                  </a:txBody>
                  <a:tcPr anchor="ctr"/>
                </a:tc>
                <a:extLst>
                  <a:ext uri="{0D108BD9-81ED-4DB2-BD59-A6C34878D82A}">
                    <a16:rowId xmlns:a16="http://schemas.microsoft.com/office/drawing/2014/main" val="125561715"/>
                  </a:ext>
                </a:extLst>
              </a:tr>
              <a:tr h="540000">
                <a:tc>
                  <a:txBody>
                    <a:bodyPr/>
                    <a:lstStyle/>
                    <a:p>
                      <a:endParaRPr lang="en-DE" dirty="0"/>
                    </a:p>
                  </a:txBody>
                  <a:tcPr/>
                </a:tc>
                <a:tc>
                  <a:txBody>
                    <a:bodyPr/>
                    <a:lstStyle/>
                    <a:p>
                      <a:r>
                        <a:rPr lang="de-DE" sz="2400" dirty="0">
                          <a:solidFill>
                            <a:srgbClr val="7FB6D3"/>
                          </a:solidFill>
                        </a:rPr>
                        <a:t>            Church</a:t>
                      </a:r>
                      <a:r>
                        <a:rPr lang="de-DE" sz="2400" dirty="0">
                          <a:solidFill>
                            <a:schemeClr val="bg1">
                              <a:lumMod val="85000"/>
                            </a:schemeClr>
                          </a:solidFill>
                        </a:rPr>
                        <a:t>Pray</a:t>
                      </a:r>
                      <a:r>
                        <a:rPr lang="de-DE" sz="2400" dirty="0">
                          <a:solidFill>
                            <a:srgbClr val="7FB6D3"/>
                          </a:solidFill>
                        </a:rPr>
                        <a:t>.tsx</a:t>
                      </a:r>
                      <a:endParaRPr lang="en-DE" sz="2400" dirty="0">
                        <a:solidFill>
                          <a:srgbClr val="7FB6D3"/>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400" dirty="0">
                          <a:solidFill>
                            <a:srgbClr val="7FB6D3"/>
                          </a:solidFill>
                        </a:rPr>
                        <a:t>Interaktion, mit Events oder Quests</a:t>
                      </a:r>
                      <a:endParaRPr lang="en-DE" sz="2400" dirty="0">
                        <a:solidFill>
                          <a:srgbClr val="7FB6D3"/>
                        </a:solidFill>
                      </a:endParaRPr>
                    </a:p>
                  </a:txBody>
                  <a:tcPr anchor="ctr"/>
                </a:tc>
                <a:extLst>
                  <a:ext uri="{0D108BD9-81ED-4DB2-BD59-A6C34878D82A}">
                    <a16:rowId xmlns:a16="http://schemas.microsoft.com/office/drawing/2014/main" val="997803402"/>
                  </a:ext>
                </a:extLst>
              </a:tr>
            </a:tbl>
          </a:graphicData>
        </a:graphic>
      </p:graphicFrame>
      <p:pic>
        <p:nvPicPr>
          <p:cNvPr id="7" name="Grafik 6" descr="Geöffneter Ordner mit einfarbiger Füllung">
            <a:extLst>
              <a:ext uri="{FF2B5EF4-FFF2-40B4-BE49-F238E27FC236}">
                <a16:creationId xmlns:a16="http://schemas.microsoft.com/office/drawing/2014/main" id="{D722980E-A4D1-18C1-5B09-E36284F6E4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4575" y="2292350"/>
            <a:ext cx="679450" cy="679450"/>
          </a:xfrm>
          <a:prstGeom prst="rect">
            <a:avLst/>
          </a:prstGeom>
        </p:spPr>
      </p:pic>
      <p:pic>
        <p:nvPicPr>
          <p:cNvPr id="9" name="Grafik 8" descr="Geöffneter Ordner mit einfarbiger Füllung">
            <a:extLst>
              <a:ext uri="{FF2B5EF4-FFF2-40B4-BE49-F238E27FC236}">
                <a16:creationId xmlns:a16="http://schemas.microsoft.com/office/drawing/2014/main" id="{79D47655-41F9-54F4-5601-EAAAB960128D}"/>
              </a:ext>
            </a:extLst>
          </p:cNvPr>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885825" y="1746250"/>
            <a:ext cx="679450" cy="679450"/>
          </a:xfrm>
          <a:prstGeom prst="rect">
            <a:avLst/>
          </a:prstGeom>
        </p:spPr>
      </p:pic>
      <p:pic>
        <p:nvPicPr>
          <p:cNvPr id="14" name="Grafik 13" descr="Geöffneter Ordner mit einfarbiger Füllung">
            <a:extLst>
              <a:ext uri="{FF2B5EF4-FFF2-40B4-BE49-F238E27FC236}">
                <a16:creationId xmlns:a16="http://schemas.microsoft.com/office/drawing/2014/main" id="{56E6BDFB-DAC7-21D7-00A4-D2E9F52C5A47}"/>
              </a:ext>
            </a:extLst>
          </p:cNvPr>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1470025" y="3380787"/>
            <a:ext cx="679450" cy="679450"/>
          </a:xfrm>
          <a:prstGeom prst="rect">
            <a:avLst/>
          </a:prstGeom>
        </p:spPr>
      </p:pic>
      <p:pic>
        <p:nvPicPr>
          <p:cNvPr id="15" name="Grafik 14" descr="Geöffneter Ordner mit einfarbiger Füllung">
            <a:extLst>
              <a:ext uri="{FF2B5EF4-FFF2-40B4-BE49-F238E27FC236}">
                <a16:creationId xmlns:a16="http://schemas.microsoft.com/office/drawing/2014/main" id="{D9864018-070F-CD3A-F4BE-D59E7E0CC87C}"/>
              </a:ext>
            </a:extLst>
          </p:cNvPr>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1279525" y="2834687"/>
            <a:ext cx="679450" cy="679450"/>
          </a:xfrm>
          <a:prstGeom prst="rect">
            <a:avLst/>
          </a:prstGeom>
        </p:spPr>
      </p:pic>
      <p:sp>
        <p:nvSpPr>
          <p:cNvPr id="3" name="Foliennummernplatzhalter 2">
            <a:extLst>
              <a:ext uri="{FF2B5EF4-FFF2-40B4-BE49-F238E27FC236}">
                <a16:creationId xmlns:a16="http://schemas.microsoft.com/office/drawing/2014/main" id="{2DAA60F1-7009-4782-FED9-EF83267E02D0}"/>
              </a:ext>
            </a:extLst>
          </p:cNvPr>
          <p:cNvSpPr>
            <a:spLocks noGrp="1"/>
          </p:cNvSpPr>
          <p:nvPr>
            <p:ph type="sldNum" sz="quarter" idx="12"/>
          </p:nvPr>
        </p:nvSpPr>
        <p:spPr/>
        <p:txBody>
          <a:bodyPr/>
          <a:lstStyle/>
          <a:p>
            <a:fld id="{4118D7DC-84C5-45D3-BF8A-BA4205260971}" type="slidenum">
              <a:rPr lang="en-DE" smtClean="0"/>
              <a:t>10</a:t>
            </a:fld>
            <a:endParaRPr lang="en-DE"/>
          </a:p>
        </p:txBody>
      </p:sp>
    </p:spTree>
    <p:extLst>
      <p:ext uri="{BB962C8B-B14F-4D97-AF65-F5344CB8AC3E}">
        <p14:creationId xmlns:p14="http://schemas.microsoft.com/office/powerpoint/2010/main" val="3249743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2BF4B-F126-18A9-B9FC-560F6D7A595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2A461BD-DFD3-DE88-69E8-19905E3FD63D}"/>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Templates</a:t>
            </a:r>
            <a:endParaRPr lang="en-DE" sz="5400" b="1" dirty="0">
              <a:solidFill>
                <a:srgbClr val="7FB6D3"/>
              </a:solidFill>
              <a:latin typeface="Chiller" panose="04020404031007020602" pitchFamily="82" charset="0"/>
            </a:endParaRPr>
          </a:p>
        </p:txBody>
      </p:sp>
      <p:pic>
        <p:nvPicPr>
          <p:cNvPr id="11" name="Grafik 10">
            <a:extLst>
              <a:ext uri="{FF2B5EF4-FFF2-40B4-BE49-F238E27FC236}">
                <a16:creationId xmlns:a16="http://schemas.microsoft.com/office/drawing/2014/main" id="{656D5104-DBD4-6D38-01D3-DFF41EBC6FD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644250" y="1478155"/>
            <a:ext cx="5195660" cy="4531255"/>
          </a:xfrm>
          <a:prstGeom prst="rect">
            <a:avLst/>
          </a:prstGeom>
        </p:spPr>
      </p:pic>
      <p:sp>
        <p:nvSpPr>
          <p:cNvPr id="12" name="Textfeld 11">
            <a:extLst>
              <a:ext uri="{FF2B5EF4-FFF2-40B4-BE49-F238E27FC236}">
                <a16:creationId xmlns:a16="http://schemas.microsoft.com/office/drawing/2014/main" id="{268DD6FF-B682-3DD0-F464-42CEE7943463}"/>
              </a:ext>
            </a:extLst>
          </p:cNvPr>
          <p:cNvSpPr txBox="1"/>
          <p:nvPr/>
        </p:nvSpPr>
        <p:spPr>
          <a:xfrm>
            <a:off x="838200" y="1690688"/>
            <a:ext cx="5257800" cy="3598357"/>
          </a:xfrm>
          <a:prstGeom prst="rect">
            <a:avLst/>
          </a:prstGeom>
          <a:noFill/>
        </p:spPr>
        <p:txBody>
          <a:bodyPr wrap="square" rtlCol="0">
            <a:spAutoFit/>
          </a:bodyPr>
          <a:lstStyle/>
          <a:p>
            <a:pPr>
              <a:lnSpc>
                <a:spcPct val="150000"/>
              </a:lnSpc>
            </a:pPr>
            <a:r>
              <a:rPr lang="de-DE" sz="2200" dirty="0">
                <a:solidFill>
                  <a:srgbClr val="7FB6D3"/>
                </a:solidFill>
              </a:rPr>
              <a:t>Die Orte und deren Umgebung benutzten Templates, so können sie schlank und dumm bleiben.</a:t>
            </a:r>
          </a:p>
          <a:p>
            <a:pPr>
              <a:lnSpc>
                <a:spcPct val="150000"/>
              </a:lnSpc>
            </a:pPr>
            <a:endParaRPr lang="de-DE" sz="2200" dirty="0">
              <a:solidFill>
                <a:srgbClr val="7FB6D3"/>
              </a:solidFill>
            </a:endParaRPr>
          </a:p>
          <a:p>
            <a:pPr>
              <a:lnSpc>
                <a:spcPct val="150000"/>
              </a:lnSpc>
            </a:pPr>
            <a:r>
              <a:rPr lang="de-DE" sz="2200" dirty="0">
                <a:solidFill>
                  <a:srgbClr val="7FB6D3"/>
                </a:solidFill>
              </a:rPr>
              <a:t>Es gibt Komponenten die sich nur um das View kümmern und andere kümmern sich nur um die Logik.</a:t>
            </a:r>
            <a:endParaRPr lang="en-DE" sz="2200" dirty="0">
              <a:solidFill>
                <a:srgbClr val="7FB6D3"/>
              </a:solidFill>
            </a:endParaRPr>
          </a:p>
        </p:txBody>
      </p:sp>
      <p:sp>
        <p:nvSpPr>
          <p:cNvPr id="3" name="Foliennummernplatzhalter 2">
            <a:extLst>
              <a:ext uri="{FF2B5EF4-FFF2-40B4-BE49-F238E27FC236}">
                <a16:creationId xmlns:a16="http://schemas.microsoft.com/office/drawing/2014/main" id="{ED6D7AF0-00B5-7AEB-4A29-10296DE83B4A}"/>
              </a:ext>
            </a:extLst>
          </p:cNvPr>
          <p:cNvSpPr>
            <a:spLocks noGrp="1"/>
          </p:cNvSpPr>
          <p:nvPr>
            <p:ph type="sldNum" sz="quarter" idx="12"/>
          </p:nvPr>
        </p:nvSpPr>
        <p:spPr/>
        <p:txBody>
          <a:bodyPr/>
          <a:lstStyle/>
          <a:p>
            <a:fld id="{4118D7DC-84C5-45D3-BF8A-BA4205260971}" type="slidenum">
              <a:rPr lang="en-DE" smtClean="0"/>
              <a:t>11</a:t>
            </a:fld>
            <a:endParaRPr lang="en-DE"/>
          </a:p>
        </p:txBody>
      </p:sp>
    </p:spTree>
    <p:extLst>
      <p:ext uri="{BB962C8B-B14F-4D97-AF65-F5344CB8AC3E}">
        <p14:creationId xmlns:p14="http://schemas.microsoft.com/office/powerpoint/2010/main" val="24015570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36503-6F22-6DC8-106C-2E57AA525339}"/>
            </a:ext>
          </a:extLst>
        </p:cNvPr>
        <p:cNvGrpSpPr/>
        <p:nvPr/>
      </p:nvGrpSpPr>
      <p:grpSpPr>
        <a:xfrm>
          <a:off x="0" y="0"/>
          <a:ext cx="0" cy="0"/>
          <a:chOff x="0" y="0"/>
          <a:chExt cx="0" cy="0"/>
        </a:xfrm>
      </p:grpSpPr>
      <p:pic>
        <p:nvPicPr>
          <p:cNvPr id="5" name="Inhaltsplatzhalter 4">
            <a:extLst>
              <a:ext uri="{FF2B5EF4-FFF2-40B4-BE49-F238E27FC236}">
                <a16:creationId xmlns:a16="http://schemas.microsoft.com/office/drawing/2014/main" id="{4265BC98-DE0C-F9CD-1EC5-1530E9F96362}"/>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838200" y="2930732"/>
            <a:ext cx="10515600" cy="3207923"/>
          </a:xfrm>
        </p:spPr>
      </p:pic>
      <p:sp>
        <p:nvSpPr>
          <p:cNvPr id="2" name="Titel 1">
            <a:extLst>
              <a:ext uri="{FF2B5EF4-FFF2-40B4-BE49-F238E27FC236}">
                <a16:creationId xmlns:a16="http://schemas.microsoft.com/office/drawing/2014/main" id="{7FDB976B-92F4-D698-E909-4066905479A7}"/>
              </a:ext>
            </a:extLst>
          </p:cNvPr>
          <p:cNvSpPr>
            <a:spLocks noGrp="1"/>
          </p:cNvSpPr>
          <p:nvPr>
            <p:ph type="title"/>
          </p:nvPr>
        </p:nvSpPr>
        <p:spPr>
          <a:xfrm>
            <a:off x="838200" y="365125"/>
            <a:ext cx="10515600" cy="1325563"/>
          </a:xfrm>
        </p:spPr>
        <p:txBody>
          <a:bodyPr>
            <a:normAutofit/>
          </a:bodyPr>
          <a:lstStyle/>
          <a:p>
            <a:r>
              <a:rPr lang="de-DE" sz="5400" b="1" dirty="0">
                <a:solidFill>
                  <a:srgbClr val="7FB6D3"/>
                </a:solidFill>
                <a:latin typeface="Chiller" panose="04020404031007020602" pitchFamily="82" charset="0"/>
              </a:rPr>
              <a:t>Routing</a:t>
            </a:r>
            <a:endParaRPr lang="en-DE" sz="5400" b="1" dirty="0">
              <a:solidFill>
                <a:srgbClr val="7FB6D3"/>
              </a:solidFill>
              <a:latin typeface="Chiller" panose="04020404031007020602" pitchFamily="82" charset="0"/>
            </a:endParaRPr>
          </a:p>
        </p:txBody>
      </p:sp>
      <p:sp>
        <p:nvSpPr>
          <p:cNvPr id="3" name="Textfeld 2">
            <a:extLst>
              <a:ext uri="{FF2B5EF4-FFF2-40B4-BE49-F238E27FC236}">
                <a16:creationId xmlns:a16="http://schemas.microsoft.com/office/drawing/2014/main" id="{625B7B67-D843-9824-1B13-3F810FBCBDE8}"/>
              </a:ext>
            </a:extLst>
          </p:cNvPr>
          <p:cNvSpPr txBox="1"/>
          <p:nvPr/>
        </p:nvSpPr>
        <p:spPr>
          <a:xfrm>
            <a:off x="838200" y="1690688"/>
            <a:ext cx="10356850" cy="2074863"/>
          </a:xfrm>
          <a:prstGeom prst="rect">
            <a:avLst/>
          </a:prstGeom>
          <a:noFill/>
        </p:spPr>
        <p:txBody>
          <a:bodyPr wrap="square" rtlCol="0">
            <a:spAutoFit/>
          </a:bodyPr>
          <a:lstStyle/>
          <a:p>
            <a:pPr>
              <a:lnSpc>
                <a:spcPct val="150000"/>
              </a:lnSpc>
            </a:pPr>
            <a:r>
              <a:rPr lang="de-DE" sz="2200" dirty="0">
                <a:solidFill>
                  <a:srgbClr val="7FB6D3"/>
                </a:solidFill>
              </a:rPr>
              <a:t>Der aktuelle Ort wird durch die URL angegeben. Dieser wird als Path gespeichert und beim Start des Spiels geladen.</a:t>
            </a:r>
          </a:p>
          <a:p>
            <a:pPr>
              <a:lnSpc>
                <a:spcPct val="150000"/>
              </a:lnSpc>
            </a:pPr>
            <a:r>
              <a:rPr lang="de-DE" sz="2200" dirty="0">
                <a:solidFill>
                  <a:srgbClr val="7FB6D3"/>
                </a:solidFill>
              </a:rPr>
              <a:t>So startet der Spieler immer</a:t>
            </a:r>
          </a:p>
          <a:p>
            <a:pPr>
              <a:lnSpc>
                <a:spcPct val="150000"/>
              </a:lnSpc>
            </a:pPr>
            <a:r>
              <a:rPr lang="de-DE" sz="2200" dirty="0">
                <a:solidFill>
                  <a:srgbClr val="7FB6D3"/>
                </a:solidFill>
              </a:rPr>
              <a:t>am richtigen Ort. </a:t>
            </a:r>
            <a:endParaRPr lang="en-DE" sz="2200" dirty="0">
              <a:solidFill>
                <a:srgbClr val="7FB6D3"/>
              </a:solidFill>
            </a:endParaRPr>
          </a:p>
        </p:txBody>
      </p:sp>
      <p:sp>
        <p:nvSpPr>
          <p:cNvPr id="4" name="Foliennummernplatzhalter 3">
            <a:extLst>
              <a:ext uri="{FF2B5EF4-FFF2-40B4-BE49-F238E27FC236}">
                <a16:creationId xmlns:a16="http://schemas.microsoft.com/office/drawing/2014/main" id="{88729D7D-F0EA-AA40-2044-158C10BC128C}"/>
              </a:ext>
            </a:extLst>
          </p:cNvPr>
          <p:cNvSpPr>
            <a:spLocks noGrp="1"/>
          </p:cNvSpPr>
          <p:nvPr>
            <p:ph type="sldNum" sz="quarter" idx="12"/>
          </p:nvPr>
        </p:nvSpPr>
        <p:spPr/>
        <p:txBody>
          <a:bodyPr/>
          <a:lstStyle/>
          <a:p>
            <a:fld id="{4118D7DC-84C5-45D3-BF8A-BA4205260971}" type="slidenum">
              <a:rPr lang="en-DE" smtClean="0"/>
              <a:t>12</a:t>
            </a:fld>
            <a:endParaRPr lang="en-DE"/>
          </a:p>
        </p:txBody>
      </p:sp>
    </p:spTree>
    <p:extLst>
      <p:ext uri="{BB962C8B-B14F-4D97-AF65-F5344CB8AC3E}">
        <p14:creationId xmlns:p14="http://schemas.microsoft.com/office/powerpoint/2010/main" val="1778114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EBECE-A11F-E2D6-AF11-62C35E9D443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8AB2D07-B60B-DF66-8319-4081DEFCFE11}"/>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Events</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8965703D-22D9-C214-DA87-7C6A70CE19B8}"/>
              </a:ext>
            </a:extLst>
          </p:cNvPr>
          <p:cNvSpPr txBox="1"/>
          <p:nvPr/>
        </p:nvSpPr>
        <p:spPr>
          <a:xfrm>
            <a:off x="838200" y="1690689"/>
            <a:ext cx="4527550" cy="3090526"/>
          </a:xfrm>
          <a:prstGeom prst="rect">
            <a:avLst/>
          </a:prstGeom>
          <a:noFill/>
        </p:spPr>
        <p:txBody>
          <a:bodyPr wrap="square" rtlCol="0">
            <a:spAutoFit/>
          </a:bodyPr>
          <a:lstStyle/>
          <a:p>
            <a:pPr>
              <a:lnSpc>
                <a:spcPct val="150000"/>
              </a:lnSpc>
            </a:pPr>
            <a:r>
              <a:rPr lang="de-DE" sz="2200" dirty="0">
                <a:solidFill>
                  <a:srgbClr val="7FB6D3"/>
                </a:solidFill>
              </a:rPr>
              <a:t>Alles was passieren kann wird durch ein Event ausgelöst. Diese können wiederum Aufgaben oder Kämpfe starten, weitere Events triggern, oder den State/Value ändern.</a:t>
            </a:r>
            <a:endParaRPr lang="en-DE" sz="2200" dirty="0">
              <a:solidFill>
                <a:srgbClr val="7FB6D3"/>
              </a:solidFill>
            </a:endParaRPr>
          </a:p>
        </p:txBody>
      </p:sp>
      <p:pic>
        <p:nvPicPr>
          <p:cNvPr id="4" name="Grafik 3">
            <a:extLst>
              <a:ext uri="{FF2B5EF4-FFF2-40B4-BE49-F238E27FC236}">
                <a16:creationId xmlns:a16="http://schemas.microsoft.com/office/drawing/2014/main" id="{DA186CBF-05AD-1673-CF72-59F9436C31D0}"/>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838200" y="1138238"/>
            <a:ext cx="10686641" cy="4953348"/>
          </a:xfrm>
          <a:prstGeom prst="rect">
            <a:avLst/>
          </a:prstGeom>
        </p:spPr>
      </p:pic>
      <p:sp>
        <p:nvSpPr>
          <p:cNvPr id="3" name="Foliennummernplatzhalter 2">
            <a:extLst>
              <a:ext uri="{FF2B5EF4-FFF2-40B4-BE49-F238E27FC236}">
                <a16:creationId xmlns:a16="http://schemas.microsoft.com/office/drawing/2014/main" id="{13F1DB03-9177-0604-8148-2CEBE1F4A0F3}"/>
              </a:ext>
            </a:extLst>
          </p:cNvPr>
          <p:cNvSpPr>
            <a:spLocks noGrp="1"/>
          </p:cNvSpPr>
          <p:nvPr>
            <p:ph type="sldNum" sz="quarter" idx="12"/>
          </p:nvPr>
        </p:nvSpPr>
        <p:spPr/>
        <p:txBody>
          <a:bodyPr/>
          <a:lstStyle/>
          <a:p>
            <a:fld id="{4118D7DC-84C5-45D3-BF8A-BA4205260971}" type="slidenum">
              <a:rPr lang="en-DE" smtClean="0"/>
              <a:t>13</a:t>
            </a:fld>
            <a:endParaRPr lang="en-DE"/>
          </a:p>
        </p:txBody>
      </p:sp>
    </p:spTree>
    <p:extLst>
      <p:ext uri="{BB962C8B-B14F-4D97-AF65-F5344CB8AC3E}">
        <p14:creationId xmlns:p14="http://schemas.microsoft.com/office/powerpoint/2010/main" val="423386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18200-46B3-6B1E-666C-D8E386371BB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99E4317-872A-7666-BB7B-10EEF946CC66}"/>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Quests</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9B84EB60-D92A-6522-F8B1-C6AC93914D00}"/>
              </a:ext>
            </a:extLst>
          </p:cNvPr>
          <p:cNvSpPr txBox="1"/>
          <p:nvPr/>
        </p:nvSpPr>
        <p:spPr>
          <a:xfrm>
            <a:off x="838200" y="1690689"/>
            <a:ext cx="5967449" cy="1059201"/>
          </a:xfrm>
          <a:prstGeom prst="rect">
            <a:avLst/>
          </a:prstGeom>
          <a:noFill/>
        </p:spPr>
        <p:txBody>
          <a:bodyPr wrap="square" rtlCol="0">
            <a:spAutoFit/>
          </a:bodyPr>
          <a:lstStyle/>
          <a:p>
            <a:pPr>
              <a:lnSpc>
                <a:spcPct val="150000"/>
              </a:lnSpc>
            </a:pPr>
            <a:r>
              <a:rPr lang="de-DE" sz="2200" dirty="0">
                <a:solidFill>
                  <a:srgbClr val="7FB6D3"/>
                </a:solidFill>
              </a:rPr>
              <a:t>Quests sind Events die erst dann triggern, wenn eine Bedingung erfüllt wurde:</a:t>
            </a:r>
          </a:p>
        </p:txBody>
      </p:sp>
      <p:sp>
        <p:nvSpPr>
          <p:cNvPr id="3" name="Foliennummernplatzhalter 2">
            <a:extLst>
              <a:ext uri="{FF2B5EF4-FFF2-40B4-BE49-F238E27FC236}">
                <a16:creationId xmlns:a16="http://schemas.microsoft.com/office/drawing/2014/main" id="{852DECF3-EB1F-D1F8-38EE-D0A6E049E4B7}"/>
              </a:ext>
            </a:extLst>
          </p:cNvPr>
          <p:cNvSpPr>
            <a:spLocks noGrp="1"/>
          </p:cNvSpPr>
          <p:nvPr>
            <p:ph type="sldNum" sz="quarter" idx="12"/>
          </p:nvPr>
        </p:nvSpPr>
        <p:spPr/>
        <p:txBody>
          <a:bodyPr/>
          <a:lstStyle/>
          <a:p>
            <a:fld id="{4118D7DC-84C5-45D3-BF8A-BA4205260971}" type="slidenum">
              <a:rPr lang="en-DE" smtClean="0"/>
              <a:t>14</a:t>
            </a:fld>
            <a:endParaRPr lang="en-DE"/>
          </a:p>
        </p:txBody>
      </p:sp>
      <p:pic>
        <p:nvPicPr>
          <p:cNvPr id="8" name="Grafik 7">
            <a:extLst>
              <a:ext uri="{FF2B5EF4-FFF2-40B4-BE49-F238E27FC236}">
                <a16:creationId xmlns:a16="http://schemas.microsoft.com/office/drawing/2014/main" id="{1AD847B6-070D-540C-1478-E64ADF8F2623}"/>
              </a:ext>
            </a:extLst>
          </p:cNvPr>
          <p:cNvPicPr>
            <a:picLocks noChangeAspect="1"/>
          </p:cNvPicPr>
          <p:nvPr/>
        </p:nvPicPr>
        <p:blipFill>
          <a:blip r:embed="rId2">
            <a:alphaModFix/>
          </a:blip>
          <a:stretch>
            <a:fillRect/>
          </a:stretch>
        </p:blipFill>
        <p:spPr>
          <a:xfrm>
            <a:off x="7659003" y="1496543"/>
            <a:ext cx="3381272" cy="437027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9" name="Textfeld 8">
            <a:extLst>
              <a:ext uri="{FF2B5EF4-FFF2-40B4-BE49-F238E27FC236}">
                <a16:creationId xmlns:a16="http://schemas.microsoft.com/office/drawing/2014/main" id="{8A282B7A-E42B-C3FF-1EFE-71F020AC27F3}"/>
              </a:ext>
            </a:extLst>
          </p:cNvPr>
          <p:cNvSpPr txBox="1"/>
          <p:nvPr/>
        </p:nvSpPr>
        <p:spPr>
          <a:xfrm>
            <a:off x="1151725" y="2905943"/>
            <a:ext cx="5653924" cy="2960875"/>
          </a:xfrm>
          <a:prstGeom prst="rect">
            <a:avLst/>
          </a:prstGeom>
          <a:noFill/>
        </p:spPr>
        <p:txBody>
          <a:bodyPr wrap="square" rtlCol="0">
            <a:spAutoFit/>
          </a:bodyPr>
          <a:lstStyle/>
          <a:p>
            <a:pPr marL="342900" indent="-342900">
              <a:lnSpc>
                <a:spcPct val="150000"/>
              </a:lnSpc>
              <a:buFont typeface="Wingdings" panose="05000000000000000000" pitchFamily="2" charset="2"/>
              <a:buChar char="Ø"/>
            </a:pPr>
            <a:r>
              <a:rPr lang="de-DE" sz="1800" dirty="0">
                <a:solidFill>
                  <a:srgbClr val="7FB6D3"/>
                </a:solidFill>
              </a:rPr>
              <a:t>Begegnung	</a:t>
            </a:r>
            <a:r>
              <a:rPr lang="de-DE" sz="1800" dirty="0">
                <a:solidFill>
                  <a:schemeClr val="bg2">
                    <a:lumMod val="50000"/>
                  </a:schemeClr>
                </a:solidFill>
              </a:rPr>
              <a:t>(Finde die gesuchte Person)</a:t>
            </a:r>
          </a:p>
          <a:p>
            <a:pPr marL="342900" indent="-342900">
              <a:lnSpc>
                <a:spcPct val="150000"/>
              </a:lnSpc>
              <a:buFont typeface="Wingdings" panose="05000000000000000000" pitchFamily="2" charset="2"/>
              <a:buChar char="Ø"/>
            </a:pPr>
            <a:r>
              <a:rPr lang="de-DE" sz="1800" dirty="0">
                <a:solidFill>
                  <a:srgbClr val="7FB6D3"/>
                </a:solidFill>
              </a:rPr>
              <a:t>Besorgung	</a:t>
            </a:r>
            <a:r>
              <a:rPr lang="de-DE" sz="1800" dirty="0">
                <a:solidFill>
                  <a:schemeClr val="bg2">
                    <a:lumMod val="50000"/>
                  </a:schemeClr>
                </a:solidFill>
              </a:rPr>
              <a:t>(Besorge Gegenstände)</a:t>
            </a:r>
          </a:p>
          <a:p>
            <a:pPr marL="342900" indent="-342900">
              <a:lnSpc>
                <a:spcPct val="150000"/>
              </a:lnSpc>
              <a:buFont typeface="Wingdings" panose="05000000000000000000" pitchFamily="2" charset="2"/>
              <a:buChar char="Ø"/>
            </a:pPr>
            <a:r>
              <a:rPr lang="de-DE" sz="1800" dirty="0">
                <a:solidFill>
                  <a:srgbClr val="7FB6D3"/>
                </a:solidFill>
              </a:rPr>
              <a:t>Erkundung	</a:t>
            </a:r>
            <a:r>
              <a:rPr lang="de-DE" sz="1800" dirty="0">
                <a:solidFill>
                  <a:schemeClr val="bg2">
                    <a:lumMod val="50000"/>
                  </a:schemeClr>
                </a:solidFill>
              </a:rPr>
              <a:t>(Erreiche einen Ort)</a:t>
            </a:r>
          </a:p>
          <a:p>
            <a:pPr marL="342900" indent="-342900">
              <a:lnSpc>
                <a:spcPct val="150000"/>
              </a:lnSpc>
              <a:buFont typeface="Wingdings" panose="05000000000000000000" pitchFamily="2" charset="2"/>
              <a:buChar char="Ø"/>
            </a:pPr>
            <a:r>
              <a:rPr lang="de-DE" sz="1800" dirty="0">
                <a:solidFill>
                  <a:srgbClr val="7FB6D3"/>
                </a:solidFill>
              </a:rPr>
              <a:t>Benutzten	</a:t>
            </a:r>
            <a:r>
              <a:rPr lang="de-DE" sz="1800" dirty="0">
                <a:solidFill>
                  <a:schemeClr val="bg2">
                    <a:lumMod val="50000"/>
                  </a:schemeClr>
                </a:solidFill>
              </a:rPr>
              <a:t>(Benutzte ein Item an einem Ort)</a:t>
            </a:r>
          </a:p>
          <a:p>
            <a:pPr marL="342900" indent="-342900">
              <a:lnSpc>
                <a:spcPct val="150000"/>
              </a:lnSpc>
              <a:buFont typeface="Wingdings" panose="05000000000000000000" pitchFamily="2" charset="2"/>
              <a:buChar char="Ø"/>
            </a:pPr>
            <a:r>
              <a:rPr lang="de-DE" sz="1800" dirty="0">
                <a:solidFill>
                  <a:srgbClr val="7FB6D3"/>
                </a:solidFill>
              </a:rPr>
              <a:t>Besiegen	</a:t>
            </a:r>
            <a:r>
              <a:rPr lang="de-DE" sz="1800" dirty="0">
                <a:solidFill>
                  <a:schemeClr val="bg2">
                    <a:lumMod val="50000"/>
                  </a:schemeClr>
                </a:solidFill>
              </a:rPr>
              <a:t>(Besiege Gegner)</a:t>
            </a:r>
          </a:p>
          <a:p>
            <a:pPr marL="342900" indent="-342900">
              <a:lnSpc>
                <a:spcPct val="150000"/>
              </a:lnSpc>
              <a:buFont typeface="Wingdings" panose="05000000000000000000" pitchFamily="2" charset="2"/>
              <a:buChar char="Ø"/>
            </a:pPr>
            <a:r>
              <a:rPr lang="de-DE" sz="1800" dirty="0">
                <a:solidFill>
                  <a:srgbClr val="7FB6D3"/>
                </a:solidFill>
              </a:rPr>
              <a:t>Verbessern	</a:t>
            </a:r>
            <a:r>
              <a:rPr lang="de-DE" sz="1800" dirty="0">
                <a:solidFill>
                  <a:schemeClr val="bg2">
                    <a:lumMod val="50000"/>
                  </a:schemeClr>
                </a:solidFill>
              </a:rPr>
              <a:t>(Habe einen bestimmten Value)</a:t>
            </a:r>
          </a:p>
          <a:p>
            <a:pPr marL="342900" indent="-342900">
              <a:lnSpc>
                <a:spcPct val="150000"/>
              </a:lnSpc>
              <a:buFont typeface="Wingdings" panose="05000000000000000000" pitchFamily="2" charset="2"/>
              <a:buChar char="Ø"/>
            </a:pPr>
            <a:r>
              <a:rPr lang="de-DE" sz="1800" dirty="0">
                <a:solidFill>
                  <a:srgbClr val="7FB6D3"/>
                </a:solidFill>
              </a:rPr>
              <a:t>Schalter	</a:t>
            </a:r>
            <a:r>
              <a:rPr lang="de-DE" sz="1800" dirty="0">
                <a:solidFill>
                  <a:schemeClr val="bg2">
                    <a:lumMod val="50000"/>
                  </a:schemeClr>
                </a:solidFill>
              </a:rPr>
              <a:t>(Irgendetwas verändert die Welt)</a:t>
            </a:r>
            <a:endParaRPr lang="en-DE" sz="1800" dirty="0">
              <a:solidFill>
                <a:schemeClr val="bg2">
                  <a:lumMod val="50000"/>
                </a:schemeClr>
              </a:solidFill>
            </a:endParaRPr>
          </a:p>
        </p:txBody>
      </p:sp>
    </p:spTree>
    <p:extLst>
      <p:ext uri="{BB962C8B-B14F-4D97-AF65-F5344CB8AC3E}">
        <p14:creationId xmlns:p14="http://schemas.microsoft.com/office/powerpoint/2010/main" val="34310572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BE61-111B-B54C-269A-7E53BD69540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E169D90-E4E4-FAFF-7974-CB24029AAF76}"/>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Kampf</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D7D2F83E-D992-CECC-8972-F53F827624A4}"/>
              </a:ext>
            </a:extLst>
          </p:cNvPr>
          <p:cNvSpPr txBox="1"/>
          <p:nvPr/>
        </p:nvSpPr>
        <p:spPr>
          <a:xfrm>
            <a:off x="838200" y="1690689"/>
            <a:ext cx="4527550" cy="1567032"/>
          </a:xfrm>
          <a:prstGeom prst="rect">
            <a:avLst/>
          </a:prstGeom>
          <a:noFill/>
        </p:spPr>
        <p:txBody>
          <a:bodyPr wrap="square" rtlCol="0">
            <a:spAutoFit/>
          </a:bodyPr>
          <a:lstStyle/>
          <a:p>
            <a:pPr>
              <a:lnSpc>
                <a:spcPct val="150000"/>
              </a:lnSpc>
            </a:pPr>
            <a:r>
              <a:rPr lang="de-DE" sz="2200" dirty="0">
                <a:solidFill>
                  <a:srgbClr val="7FB6D3"/>
                </a:solidFill>
              </a:rPr>
              <a:t>Der Kampf läuft rundenbasiert ab. </a:t>
            </a:r>
          </a:p>
          <a:p>
            <a:pPr>
              <a:lnSpc>
                <a:spcPct val="150000"/>
              </a:lnSpc>
            </a:pPr>
            <a:r>
              <a:rPr lang="de-DE" sz="2200" dirty="0">
                <a:solidFill>
                  <a:srgbClr val="7FB6D3"/>
                </a:solidFill>
              </a:rPr>
              <a:t>Das eigentliche Geschehen lässt sich im Log nachlesen.</a:t>
            </a:r>
          </a:p>
        </p:txBody>
      </p:sp>
      <p:pic>
        <p:nvPicPr>
          <p:cNvPr id="7" name="Grafik 6" descr="Ein Bild, das Text, Screenshot, Diagramm, Design enthält.&#10;&#10;KI-generierte Inhalte können fehlerhaft sein.">
            <a:extLst>
              <a:ext uri="{FF2B5EF4-FFF2-40B4-BE49-F238E27FC236}">
                <a16:creationId xmlns:a16="http://schemas.microsoft.com/office/drawing/2014/main" id="{F785AE1F-F8BA-7E9E-A905-05998718EE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551408"/>
            <a:ext cx="5054884" cy="5755183"/>
          </a:xfrm>
          <a:prstGeom prst="rect">
            <a:avLst/>
          </a:prstGeom>
        </p:spPr>
      </p:pic>
      <p:pic>
        <p:nvPicPr>
          <p:cNvPr id="9" name="Grafik 8" descr="Ein Bild, das Text, Screenshot, Schrift, Zahl enthält.&#10;&#10;KI-generierte Inhalte können fehlerhaft sein.">
            <a:extLst>
              <a:ext uri="{FF2B5EF4-FFF2-40B4-BE49-F238E27FC236}">
                <a16:creationId xmlns:a16="http://schemas.microsoft.com/office/drawing/2014/main" id="{D8EE4703-AE42-8AE7-9FCF-3F04BB12B3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2453" y="3600280"/>
            <a:ext cx="3563513" cy="2706311"/>
          </a:xfrm>
          <a:prstGeom prst="rect">
            <a:avLst/>
          </a:prstGeom>
        </p:spPr>
      </p:pic>
      <p:sp>
        <p:nvSpPr>
          <p:cNvPr id="3" name="Foliennummernplatzhalter 2">
            <a:extLst>
              <a:ext uri="{FF2B5EF4-FFF2-40B4-BE49-F238E27FC236}">
                <a16:creationId xmlns:a16="http://schemas.microsoft.com/office/drawing/2014/main" id="{4F2A2900-A788-A74E-99FB-5B2991B4207D}"/>
              </a:ext>
            </a:extLst>
          </p:cNvPr>
          <p:cNvSpPr>
            <a:spLocks noGrp="1"/>
          </p:cNvSpPr>
          <p:nvPr>
            <p:ph type="sldNum" sz="quarter" idx="12"/>
          </p:nvPr>
        </p:nvSpPr>
        <p:spPr/>
        <p:txBody>
          <a:bodyPr/>
          <a:lstStyle/>
          <a:p>
            <a:fld id="{4118D7DC-84C5-45D3-BF8A-BA4205260971}" type="slidenum">
              <a:rPr lang="en-DE" smtClean="0"/>
              <a:t>15</a:t>
            </a:fld>
            <a:endParaRPr lang="en-DE"/>
          </a:p>
        </p:txBody>
      </p:sp>
    </p:spTree>
    <p:extLst>
      <p:ext uri="{BB962C8B-B14F-4D97-AF65-F5344CB8AC3E}">
        <p14:creationId xmlns:p14="http://schemas.microsoft.com/office/powerpoint/2010/main" val="14106429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EB101-6EA4-F244-E382-90B5FD34B89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BDDBD81-79C2-6F02-4915-3E12C9F6841F}"/>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Items und Buffs</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0D5F64C5-6C28-20A7-C1B3-010F7B700177}"/>
              </a:ext>
            </a:extLst>
          </p:cNvPr>
          <p:cNvSpPr txBox="1"/>
          <p:nvPr/>
        </p:nvSpPr>
        <p:spPr>
          <a:xfrm>
            <a:off x="838200" y="1690689"/>
            <a:ext cx="10515600" cy="551369"/>
          </a:xfrm>
          <a:prstGeom prst="rect">
            <a:avLst/>
          </a:prstGeom>
          <a:noFill/>
        </p:spPr>
        <p:txBody>
          <a:bodyPr wrap="square" rtlCol="0">
            <a:spAutoFit/>
          </a:bodyPr>
          <a:lstStyle/>
          <a:p>
            <a:pPr>
              <a:lnSpc>
                <a:spcPct val="150000"/>
              </a:lnSpc>
            </a:pPr>
            <a:r>
              <a:rPr lang="de-DE" sz="2200" dirty="0">
                <a:solidFill>
                  <a:srgbClr val="7FB6D3"/>
                </a:solidFill>
              </a:rPr>
              <a:t>Der Spieler hat verschiedene Werte: </a:t>
            </a:r>
            <a:r>
              <a:rPr lang="de-DE" sz="2200" dirty="0">
                <a:solidFill>
                  <a:schemeClr val="accent6"/>
                </a:solidFill>
              </a:rPr>
              <a:t>Leben</a:t>
            </a:r>
            <a:r>
              <a:rPr lang="de-DE" sz="2200" dirty="0">
                <a:solidFill>
                  <a:srgbClr val="7FB6D3"/>
                </a:solidFill>
              </a:rPr>
              <a:t>, </a:t>
            </a:r>
            <a:r>
              <a:rPr lang="de-DE" sz="2200" dirty="0">
                <a:solidFill>
                  <a:schemeClr val="accent5"/>
                </a:solidFill>
              </a:rPr>
              <a:t>Aktionen</a:t>
            </a:r>
            <a:r>
              <a:rPr lang="de-DE" sz="2200" dirty="0">
                <a:solidFill>
                  <a:srgbClr val="7FB6D3"/>
                </a:solidFill>
              </a:rPr>
              <a:t>, </a:t>
            </a:r>
            <a:r>
              <a:rPr lang="de-DE" sz="2200" dirty="0">
                <a:solidFill>
                  <a:srgbClr val="C00000"/>
                </a:solidFill>
              </a:rPr>
              <a:t>Angriff</a:t>
            </a:r>
            <a:r>
              <a:rPr lang="de-DE" sz="2200" dirty="0">
                <a:solidFill>
                  <a:srgbClr val="7FB6D3"/>
                </a:solidFill>
              </a:rPr>
              <a:t>, </a:t>
            </a:r>
            <a:r>
              <a:rPr lang="de-DE" sz="2200" dirty="0">
                <a:solidFill>
                  <a:srgbClr val="68359B"/>
                </a:solidFill>
              </a:rPr>
              <a:t>Verteidigung</a:t>
            </a:r>
            <a:r>
              <a:rPr lang="de-DE" sz="2200" dirty="0">
                <a:solidFill>
                  <a:srgbClr val="7FB6D3"/>
                </a:solidFill>
              </a:rPr>
              <a:t> und </a:t>
            </a:r>
            <a:r>
              <a:rPr lang="de-DE" sz="2200" dirty="0">
                <a:solidFill>
                  <a:srgbClr val="FFC000"/>
                </a:solidFill>
              </a:rPr>
              <a:t>Glück</a:t>
            </a:r>
          </a:p>
        </p:txBody>
      </p:sp>
      <p:sp>
        <p:nvSpPr>
          <p:cNvPr id="3" name="Foliennummernplatzhalter 2">
            <a:extLst>
              <a:ext uri="{FF2B5EF4-FFF2-40B4-BE49-F238E27FC236}">
                <a16:creationId xmlns:a16="http://schemas.microsoft.com/office/drawing/2014/main" id="{D2A27B20-1FB8-D344-1ADC-5F462BF58CD7}"/>
              </a:ext>
            </a:extLst>
          </p:cNvPr>
          <p:cNvSpPr>
            <a:spLocks noGrp="1"/>
          </p:cNvSpPr>
          <p:nvPr>
            <p:ph type="sldNum" sz="quarter" idx="12"/>
          </p:nvPr>
        </p:nvSpPr>
        <p:spPr/>
        <p:txBody>
          <a:bodyPr/>
          <a:lstStyle/>
          <a:p>
            <a:fld id="{4118D7DC-84C5-45D3-BF8A-BA4205260971}" type="slidenum">
              <a:rPr lang="en-DE" smtClean="0"/>
              <a:t>16</a:t>
            </a:fld>
            <a:endParaRPr lang="en-DE"/>
          </a:p>
        </p:txBody>
      </p:sp>
      <p:graphicFrame>
        <p:nvGraphicFramePr>
          <p:cNvPr id="4" name="Tabelle 3">
            <a:extLst>
              <a:ext uri="{FF2B5EF4-FFF2-40B4-BE49-F238E27FC236}">
                <a16:creationId xmlns:a16="http://schemas.microsoft.com/office/drawing/2014/main" id="{46ACEEC9-BE07-08F7-9041-1ACBB80BCA2B}"/>
              </a:ext>
            </a:extLst>
          </p:cNvPr>
          <p:cNvGraphicFramePr>
            <a:graphicFrameLocks noGrp="1"/>
          </p:cNvGraphicFramePr>
          <p:nvPr>
            <p:extLst>
              <p:ext uri="{D42A27DB-BD31-4B8C-83A1-F6EECF244321}">
                <p14:modId xmlns:p14="http://schemas.microsoft.com/office/powerpoint/2010/main" val="3696245044"/>
              </p:ext>
            </p:extLst>
          </p:nvPr>
        </p:nvGraphicFramePr>
        <p:xfrm>
          <a:off x="838200" y="2635314"/>
          <a:ext cx="10268824" cy="3456000"/>
        </p:xfrm>
        <a:graphic>
          <a:graphicData uri="http://schemas.openxmlformats.org/drawingml/2006/table">
            <a:tbl>
              <a:tblPr bandRow="1">
                <a:tableStyleId>{9D7B26C5-4107-4FEC-AEDC-1716B250A1EF}</a:tableStyleId>
              </a:tblPr>
              <a:tblGrid>
                <a:gridCol w="2341228">
                  <a:extLst>
                    <a:ext uri="{9D8B030D-6E8A-4147-A177-3AD203B41FA5}">
                      <a16:colId xmlns:a16="http://schemas.microsoft.com/office/drawing/2014/main" val="1527351911"/>
                    </a:ext>
                  </a:extLst>
                </a:gridCol>
                <a:gridCol w="7927596">
                  <a:extLst>
                    <a:ext uri="{9D8B030D-6E8A-4147-A177-3AD203B41FA5}">
                      <a16:colId xmlns:a16="http://schemas.microsoft.com/office/drawing/2014/main" val="3679306674"/>
                    </a:ext>
                  </a:extLst>
                </a:gridCol>
              </a:tblGrid>
              <a:tr h="576000">
                <a:tc>
                  <a:txBody>
                    <a:bodyPr/>
                    <a:lstStyle/>
                    <a:p>
                      <a:pPr algn="l"/>
                      <a:r>
                        <a:rPr lang="de-DE" sz="1800" dirty="0">
                          <a:solidFill>
                            <a:srgbClr val="7FB6D3"/>
                          </a:solidFill>
                        </a:rPr>
                        <a:t>Feeling</a:t>
                      </a:r>
                      <a:endParaRPr lang="de-DE" dirty="0"/>
                    </a:p>
                  </a:txBody>
                  <a:tcPr anchor="ctr"/>
                </a:tc>
                <a:tc>
                  <a:txBody>
                    <a:bodyPr/>
                    <a:lstStyle/>
                    <a:p>
                      <a:pPr algn="l"/>
                      <a:r>
                        <a:rPr lang="de-DE" sz="1800" dirty="0">
                          <a:solidFill>
                            <a:srgbClr val="7FB6D3"/>
                          </a:solidFill>
                        </a:rPr>
                        <a:t>Für einen Spieltag wird ein Wert positiv oder negativ beeinflusst</a:t>
                      </a:r>
                      <a:endParaRPr lang="de-DE" dirty="0"/>
                    </a:p>
                  </a:txBody>
                  <a:tcPr anchor="ctr"/>
                </a:tc>
                <a:extLst>
                  <a:ext uri="{0D108BD9-81ED-4DB2-BD59-A6C34878D82A}">
                    <a16:rowId xmlns:a16="http://schemas.microsoft.com/office/drawing/2014/main" val="2899841678"/>
                  </a:ext>
                </a:extLst>
              </a:tr>
              <a:tr h="576000">
                <a:tc>
                  <a:txBody>
                    <a:bodyPr/>
                    <a:lstStyle/>
                    <a:p>
                      <a:pPr algn="l"/>
                      <a:r>
                        <a:rPr lang="de-DE" sz="1800" dirty="0">
                          <a:solidFill>
                            <a:srgbClr val="7FB6D3"/>
                          </a:solidFill>
                        </a:rPr>
                        <a:t>Buffs</a:t>
                      </a:r>
                      <a:endParaRPr lang="de-DE" dirty="0"/>
                    </a:p>
                  </a:txBody>
                  <a:tcPr anchor="ctr"/>
                </a:tc>
                <a:tc>
                  <a:txBody>
                    <a:bodyPr/>
                    <a:lstStyle/>
                    <a:p>
                      <a:pPr algn="l"/>
                      <a:r>
                        <a:rPr lang="de-DE" sz="1800" dirty="0">
                          <a:solidFill>
                            <a:srgbClr val="7FB6D3"/>
                          </a:solidFill>
                        </a:rPr>
                        <a:t>Für eine bestimmte Anzahl an Runden werden Werte positiv beeinflusst</a:t>
                      </a:r>
                      <a:endParaRPr lang="de-DE" dirty="0"/>
                    </a:p>
                  </a:txBody>
                  <a:tcPr anchor="ctr"/>
                </a:tc>
                <a:extLst>
                  <a:ext uri="{0D108BD9-81ED-4DB2-BD59-A6C34878D82A}">
                    <a16:rowId xmlns:a16="http://schemas.microsoft.com/office/drawing/2014/main" val="3920478491"/>
                  </a:ext>
                </a:extLst>
              </a:tr>
              <a:tr h="576000">
                <a:tc>
                  <a:txBody>
                    <a:bodyPr/>
                    <a:lstStyle/>
                    <a:p>
                      <a:pPr algn="l"/>
                      <a:r>
                        <a:rPr lang="de-DE" sz="1800" dirty="0" err="1">
                          <a:solidFill>
                            <a:srgbClr val="7FB6D3"/>
                          </a:solidFill>
                        </a:rPr>
                        <a:t>Debuffs</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Für eine bestimmte Anzahl an Runden werden Werte negativ beeinflusst</a:t>
                      </a:r>
                      <a:endParaRPr lang="de-DE" dirty="0"/>
                    </a:p>
                  </a:txBody>
                  <a:tcPr anchor="ctr"/>
                </a:tc>
                <a:extLst>
                  <a:ext uri="{0D108BD9-81ED-4DB2-BD59-A6C34878D82A}">
                    <a16:rowId xmlns:a16="http://schemas.microsoft.com/office/drawing/2014/main" val="10348239"/>
                  </a:ext>
                </a:extLst>
              </a:tr>
              <a:tr h="576000">
                <a:tc>
                  <a:txBody>
                    <a:bodyPr/>
                    <a:lstStyle/>
                    <a:p>
                      <a:pPr algn="l"/>
                      <a:r>
                        <a:rPr lang="de-DE" sz="1800" dirty="0">
                          <a:solidFill>
                            <a:srgbClr val="7FB6D3"/>
                          </a:solidFill>
                        </a:rPr>
                        <a:t>Weapon</a:t>
                      </a:r>
                      <a:endParaRPr lang="de-DE" dirty="0"/>
                    </a:p>
                  </a:txBody>
                  <a:tcPr anchor="ctr"/>
                </a:tc>
                <a:tc>
                  <a:txBody>
                    <a:bodyPr/>
                    <a:lstStyle/>
                    <a:p>
                      <a:pPr algn="l"/>
                      <a:r>
                        <a:rPr lang="de-DE" sz="1800" dirty="0">
                          <a:solidFill>
                            <a:srgbClr val="7FB6D3"/>
                          </a:solidFill>
                        </a:rPr>
                        <a:t>Solange ausgerüstet wird der Angriff dauerhaft erhöht</a:t>
                      </a:r>
                      <a:endParaRPr lang="de-DE" dirty="0"/>
                    </a:p>
                  </a:txBody>
                  <a:tcPr anchor="ctr"/>
                </a:tc>
                <a:extLst>
                  <a:ext uri="{0D108BD9-81ED-4DB2-BD59-A6C34878D82A}">
                    <a16:rowId xmlns:a16="http://schemas.microsoft.com/office/drawing/2014/main" val="2607698891"/>
                  </a:ext>
                </a:extLst>
              </a:tr>
              <a:tr h="576000">
                <a:tc>
                  <a:txBody>
                    <a:bodyPr/>
                    <a:lstStyle/>
                    <a:p>
                      <a:pPr algn="l"/>
                      <a:r>
                        <a:rPr lang="de-DE" sz="1800" dirty="0">
                          <a:solidFill>
                            <a:srgbClr val="7FB6D3"/>
                          </a:solidFill>
                        </a:rPr>
                        <a:t>Armor</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Solange ausgerüstet wird die Verteidigung dauerhaft erhöht</a:t>
                      </a:r>
                      <a:endParaRPr lang="de-DE" dirty="0"/>
                    </a:p>
                  </a:txBody>
                  <a:tcPr anchor="ctr"/>
                </a:tc>
                <a:extLst>
                  <a:ext uri="{0D108BD9-81ED-4DB2-BD59-A6C34878D82A}">
                    <a16:rowId xmlns:a16="http://schemas.microsoft.com/office/drawing/2014/main" val="3525486270"/>
                  </a:ext>
                </a:extLst>
              </a:tr>
              <a:tr h="576000">
                <a:tc>
                  <a:txBody>
                    <a:bodyPr/>
                    <a:lstStyle/>
                    <a:p>
                      <a:pPr algn="l"/>
                      <a:r>
                        <a:rPr lang="de-DE" sz="1800" dirty="0">
                          <a:solidFill>
                            <a:srgbClr val="7FB6D3"/>
                          </a:solidFill>
                        </a:rPr>
                        <a:t>Item</a:t>
                      </a:r>
                      <a:endParaRPr lang="de-DE" dirty="0"/>
                    </a:p>
                  </a:txBody>
                  <a:tcPr anchor="ctr"/>
                </a:tc>
                <a:tc>
                  <a:txBody>
                    <a:bodyPr/>
                    <a:lstStyle/>
                    <a:p>
                      <a:pPr algn="l"/>
                      <a:r>
                        <a:rPr lang="de-DE" sz="1800" dirty="0">
                          <a:solidFill>
                            <a:srgbClr val="7FB6D3"/>
                          </a:solidFill>
                        </a:rPr>
                        <a:t>Zu jederzeit kann das Item in der Hand ohne Kosten genutzt werden</a:t>
                      </a:r>
                      <a:endParaRPr lang="de-DE" dirty="0"/>
                    </a:p>
                  </a:txBody>
                  <a:tcPr anchor="ctr"/>
                </a:tc>
                <a:extLst>
                  <a:ext uri="{0D108BD9-81ED-4DB2-BD59-A6C34878D82A}">
                    <a16:rowId xmlns:a16="http://schemas.microsoft.com/office/drawing/2014/main" val="3806209811"/>
                  </a:ext>
                </a:extLst>
              </a:tr>
            </a:tbl>
          </a:graphicData>
        </a:graphic>
      </p:graphicFrame>
    </p:spTree>
    <p:extLst>
      <p:ext uri="{BB962C8B-B14F-4D97-AF65-F5344CB8AC3E}">
        <p14:creationId xmlns:p14="http://schemas.microsoft.com/office/powerpoint/2010/main" val="40088523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5F62C-E746-6A92-DA6D-3FD05E2F9CC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FF67043-4E0B-6F67-8A1F-B5128213D862}"/>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Store</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F2064C40-1D71-DFA0-ACCE-3D4E317827AC}"/>
              </a:ext>
            </a:extLst>
          </p:cNvPr>
          <p:cNvSpPr txBox="1"/>
          <p:nvPr/>
        </p:nvSpPr>
        <p:spPr>
          <a:xfrm>
            <a:off x="838199" y="1690689"/>
            <a:ext cx="10515599" cy="1059201"/>
          </a:xfrm>
          <a:prstGeom prst="rect">
            <a:avLst/>
          </a:prstGeom>
          <a:noFill/>
        </p:spPr>
        <p:txBody>
          <a:bodyPr wrap="square" rtlCol="0">
            <a:spAutoFit/>
          </a:bodyPr>
          <a:lstStyle/>
          <a:p>
            <a:pPr>
              <a:lnSpc>
                <a:spcPct val="150000"/>
              </a:lnSpc>
            </a:pPr>
            <a:r>
              <a:rPr lang="de-DE" sz="2200" dirty="0">
                <a:solidFill>
                  <a:srgbClr val="7FB6D3"/>
                </a:solidFill>
              </a:rPr>
              <a:t>MobX verwaltet den Zustand reaktiv mit Observer. Mehrere Stores, die je ein Objekt halten, werden im RootStore zusammengeführt und als Ganzes gespeichert. </a:t>
            </a:r>
          </a:p>
        </p:txBody>
      </p:sp>
      <p:sp>
        <p:nvSpPr>
          <p:cNvPr id="3" name="Foliennummernplatzhalter 2">
            <a:extLst>
              <a:ext uri="{FF2B5EF4-FFF2-40B4-BE49-F238E27FC236}">
                <a16:creationId xmlns:a16="http://schemas.microsoft.com/office/drawing/2014/main" id="{B8DDD03C-DD9C-9EE0-2D86-BCB19F76791D}"/>
              </a:ext>
            </a:extLst>
          </p:cNvPr>
          <p:cNvSpPr>
            <a:spLocks noGrp="1"/>
          </p:cNvSpPr>
          <p:nvPr>
            <p:ph type="sldNum" sz="quarter" idx="12"/>
          </p:nvPr>
        </p:nvSpPr>
        <p:spPr/>
        <p:txBody>
          <a:bodyPr/>
          <a:lstStyle/>
          <a:p>
            <a:fld id="{4118D7DC-84C5-45D3-BF8A-BA4205260971}" type="slidenum">
              <a:rPr lang="en-DE" smtClean="0"/>
              <a:t>17</a:t>
            </a:fld>
            <a:endParaRPr lang="en-DE"/>
          </a:p>
        </p:txBody>
      </p:sp>
      <p:pic>
        <p:nvPicPr>
          <p:cNvPr id="5" name="Grafik 4" descr="Ein Bild, das Text, Screenshot, Schrift, Design enthält.&#10;&#10;KI-generierte Inhalte können fehlerhaft sein.">
            <a:extLst>
              <a:ext uri="{FF2B5EF4-FFF2-40B4-BE49-F238E27FC236}">
                <a16:creationId xmlns:a16="http://schemas.microsoft.com/office/drawing/2014/main" id="{65CBF6F7-4833-5D87-58EC-382EB15179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7450" y="3204093"/>
            <a:ext cx="9702800" cy="2825053"/>
          </a:xfrm>
          <a:prstGeom prst="rect">
            <a:avLst/>
          </a:prstGeom>
        </p:spPr>
      </p:pic>
    </p:spTree>
    <p:extLst>
      <p:ext uri="{BB962C8B-B14F-4D97-AF65-F5344CB8AC3E}">
        <p14:creationId xmlns:p14="http://schemas.microsoft.com/office/powerpoint/2010/main" val="17351963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7775D-057B-C514-0773-DB7492BF1B3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01EB44C-8FC6-4201-BCD7-35757E9BF519}"/>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Veröffentlichen</a:t>
            </a:r>
            <a:endParaRPr lang="en-DE" sz="5400" b="1" dirty="0">
              <a:solidFill>
                <a:srgbClr val="7FB6D3"/>
              </a:solidFill>
              <a:latin typeface="Chiller" panose="04020404031007020602" pitchFamily="82" charset="0"/>
            </a:endParaRPr>
          </a:p>
        </p:txBody>
      </p:sp>
      <p:sp>
        <p:nvSpPr>
          <p:cNvPr id="3" name="Foliennummernplatzhalter 2">
            <a:extLst>
              <a:ext uri="{FF2B5EF4-FFF2-40B4-BE49-F238E27FC236}">
                <a16:creationId xmlns:a16="http://schemas.microsoft.com/office/drawing/2014/main" id="{6FB104B7-42E0-E755-0C7C-D9D858D5576A}"/>
              </a:ext>
            </a:extLst>
          </p:cNvPr>
          <p:cNvSpPr>
            <a:spLocks noGrp="1"/>
          </p:cNvSpPr>
          <p:nvPr>
            <p:ph type="sldNum" sz="quarter" idx="12"/>
          </p:nvPr>
        </p:nvSpPr>
        <p:spPr/>
        <p:txBody>
          <a:bodyPr/>
          <a:lstStyle/>
          <a:p>
            <a:fld id="{4118D7DC-84C5-45D3-BF8A-BA4205260971}" type="slidenum">
              <a:rPr lang="en-DE" smtClean="0"/>
              <a:t>18</a:t>
            </a:fld>
            <a:endParaRPr lang="en-DE"/>
          </a:p>
        </p:txBody>
      </p:sp>
      <p:graphicFrame>
        <p:nvGraphicFramePr>
          <p:cNvPr id="4" name="Tabelle 3">
            <a:extLst>
              <a:ext uri="{FF2B5EF4-FFF2-40B4-BE49-F238E27FC236}">
                <a16:creationId xmlns:a16="http://schemas.microsoft.com/office/drawing/2014/main" id="{EE1B6539-ECB5-9A23-AF00-F77A9260D638}"/>
              </a:ext>
            </a:extLst>
          </p:cNvPr>
          <p:cNvGraphicFramePr>
            <a:graphicFrameLocks noGrp="1"/>
          </p:cNvGraphicFramePr>
          <p:nvPr>
            <p:extLst>
              <p:ext uri="{D42A27DB-BD31-4B8C-83A1-F6EECF244321}">
                <p14:modId xmlns:p14="http://schemas.microsoft.com/office/powerpoint/2010/main" val="3009680052"/>
              </p:ext>
            </p:extLst>
          </p:nvPr>
        </p:nvGraphicFramePr>
        <p:xfrm>
          <a:off x="838199" y="3429000"/>
          <a:ext cx="10515600" cy="1620000"/>
        </p:xfrm>
        <a:graphic>
          <a:graphicData uri="http://schemas.openxmlformats.org/drawingml/2006/table">
            <a:tbl>
              <a:tblPr bandRow="1">
                <a:tableStyleId>{9D7B26C5-4107-4FEC-AEDC-1716B250A1EF}</a:tableStyleId>
              </a:tblPr>
              <a:tblGrid>
                <a:gridCol w="3765551">
                  <a:extLst>
                    <a:ext uri="{9D8B030D-6E8A-4147-A177-3AD203B41FA5}">
                      <a16:colId xmlns:a16="http://schemas.microsoft.com/office/drawing/2014/main" val="3245329903"/>
                    </a:ext>
                  </a:extLst>
                </a:gridCol>
                <a:gridCol w="3244849">
                  <a:extLst>
                    <a:ext uri="{9D8B030D-6E8A-4147-A177-3AD203B41FA5}">
                      <a16:colId xmlns:a16="http://schemas.microsoft.com/office/drawing/2014/main" val="802065552"/>
                    </a:ext>
                  </a:extLst>
                </a:gridCol>
                <a:gridCol w="3505200">
                  <a:extLst>
                    <a:ext uri="{9D8B030D-6E8A-4147-A177-3AD203B41FA5}">
                      <a16:colId xmlns:a16="http://schemas.microsoft.com/office/drawing/2014/main" val="2227021436"/>
                    </a:ext>
                  </a:extLst>
                </a:gridCol>
              </a:tblGrid>
              <a:tr h="540000">
                <a:tc>
                  <a:txBody>
                    <a:bodyPr/>
                    <a:lstStyle/>
                    <a:p>
                      <a:pPr algn="l"/>
                      <a:r>
                        <a:rPr lang="de-DE" sz="1800" dirty="0">
                          <a:solidFill>
                            <a:srgbClr val="7FB6D3"/>
                          </a:solidFill>
                        </a:rPr>
                        <a:t>Als Web-Site</a:t>
                      </a:r>
                      <a:endParaRPr lang="de-DE" dirty="0"/>
                    </a:p>
                  </a:txBody>
                  <a:tcPr anchor="ctr"/>
                </a:tc>
                <a:tc>
                  <a:txBody>
                    <a:bodyPr/>
                    <a:lstStyle/>
                    <a:p>
                      <a:pPr algn="l"/>
                      <a:r>
                        <a:rPr lang="de-DE" sz="1800" dirty="0">
                          <a:solidFill>
                            <a:srgbClr val="7FB6D3"/>
                          </a:solidFill>
                        </a:rPr>
                        <a:t>Mit </a:t>
                      </a:r>
                      <a:r>
                        <a:rPr lang="de-DE" sz="1800" dirty="0" err="1">
                          <a:solidFill>
                            <a:srgbClr val="7FB6D3"/>
                          </a:solidFill>
                        </a:rPr>
                        <a:t>React</a:t>
                      </a:r>
                      <a:endParaRPr lang="en-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Auf meiner Domain</a:t>
                      </a:r>
                      <a:endParaRPr lang="de-DE" dirty="0"/>
                    </a:p>
                  </a:txBody>
                  <a:tcPr anchor="ctr"/>
                </a:tc>
                <a:extLst>
                  <a:ext uri="{0D108BD9-81ED-4DB2-BD59-A6C34878D82A}">
                    <a16:rowId xmlns:a16="http://schemas.microsoft.com/office/drawing/2014/main" val="2733735577"/>
                  </a:ext>
                </a:extLst>
              </a:tr>
              <a:tr h="54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Als Desktop-Anwendung</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Mit </a:t>
                      </a:r>
                      <a:r>
                        <a:rPr lang="de-DE" sz="1800" dirty="0" err="1">
                          <a:solidFill>
                            <a:srgbClr val="7FB6D3"/>
                          </a:solidFill>
                        </a:rPr>
                        <a:t>Electron</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Auf itch.io</a:t>
                      </a:r>
                      <a:endParaRPr lang="de-DE" dirty="0"/>
                    </a:p>
                  </a:txBody>
                  <a:tcPr anchor="ctr"/>
                </a:tc>
                <a:extLst>
                  <a:ext uri="{0D108BD9-81ED-4DB2-BD59-A6C34878D82A}">
                    <a16:rowId xmlns:a16="http://schemas.microsoft.com/office/drawing/2014/main" val="3123345124"/>
                  </a:ext>
                </a:extLst>
              </a:tr>
              <a:tr h="54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Als Mobile-App</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Mit </a:t>
                      </a:r>
                      <a:r>
                        <a:rPr lang="de-DE" sz="1800" dirty="0" err="1">
                          <a:solidFill>
                            <a:srgbClr val="7FB6D3"/>
                          </a:solidFill>
                        </a:rPr>
                        <a:t>Capacitor</a:t>
                      </a:r>
                      <a:endParaRPr lang="en-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Auf Google Play Store</a:t>
                      </a:r>
                      <a:endParaRPr lang="en-DE" dirty="0"/>
                    </a:p>
                  </a:txBody>
                  <a:tcPr anchor="ctr"/>
                </a:tc>
                <a:extLst>
                  <a:ext uri="{0D108BD9-81ED-4DB2-BD59-A6C34878D82A}">
                    <a16:rowId xmlns:a16="http://schemas.microsoft.com/office/drawing/2014/main" val="1342200455"/>
                  </a:ext>
                </a:extLst>
              </a:tr>
            </a:tbl>
          </a:graphicData>
        </a:graphic>
      </p:graphicFrame>
      <p:sp>
        <p:nvSpPr>
          <p:cNvPr id="5" name="Textfeld 4">
            <a:extLst>
              <a:ext uri="{FF2B5EF4-FFF2-40B4-BE49-F238E27FC236}">
                <a16:creationId xmlns:a16="http://schemas.microsoft.com/office/drawing/2014/main" id="{85269AA3-F55A-357E-3811-9BF8FE88962F}"/>
              </a:ext>
            </a:extLst>
          </p:cNvPr>
          <p:cNvSpPr txBox="1"/>
          <p:nvPr/>
        </p:nvSpPr>
        <p:spPr>
          <a:xfrm>
            <a:off x="838199" y="1690689"/>
            <a:ext cx="10515599" cy="1567032"/>
          </a:xfrm>
          <a:prstGeom prst="rect">
            <a:avLst/>
          </a:prstGeom>
          <a:noFill/>
        </p:spPr>
        <p:txBody>
          <a:bodyPr wrap="square" rtlCol="0">
            <a:spAutoFit/>
          </a:bodyPr>
          <a:lstStyle/>
          <a:p>
            <a:pPr>
              <a:lnSpc>
                <a:spcPct val="150000"/>
              </a:lnSpc>
            </a:pPr>
            <a:r>
              <a:rPr lang="de-DE" sz="2200" dirty="0">
                <a:solidFill>
                  <a:srgbClr val="7FB6D3"/>
                </a:solidFill>
              </a:rPr>
              <a:t>Das Spiel soll auf mehreren Plattformen spielbar sein. Als Webseite wird es keine Anpassungen brauchen. Für Desktop und Mobile muss das Projekt umgewandelt werden. Es gibt keine Werbung und keinen Shop.   </a:t>
            </a:r>
          </a:p>
        </p:txBody>
      </p:sp>
      <p:sp>
        <p:nvSpPr>
          <p:cNvPr id="6" name="Textfeld 5">
            <a:extLst>
              <a:ext uri="{FF2B5EF4-FFF2-40B4-BE49-F238E27FC236}">
                <a16:creationId xmlns:a16="http://schemas.microsoft.com/office/drawing/2014/main" id="{450C670C-BCA3-3128-D055-C87D15E0EDB6}"/>
              </a:ext>
            </a:extLst>
          </p:cNvPr>
          <p:cNvSpPr txBox="1"/>
          <p:nvPr/>
        </p:nvSpPr>
        <p:spPr>
          <a:xfrm>
            <a:off x="838199" y="5220279"/>
            <a:ext cx="10515599" cy="551369"/>
          </a:xfrm>
          <a:prstGeom prst="rect">
            <a:avLst/>
          </a:prstGeom>
          <a:noFill/>
        </p:spPr>
        <p:txBody>
          <a:bodyPr wrap="square" rtlCol="0">
            <a:spAutoFit/>
          </a:bodyPr>
          <a:lstStyle/>
          <a:p>
            <a:pPr>
              <a:lnSpc>
                <a:spcPct val="150000"/>
              </a:lnSpc>
            </a:pPr>
            <a:r>
              <a:rPr lang="de-DE" sz="2200" dirty="0">
                <a:solidFill>
                  <a:srgbClr val="7FB6D3"/>
                </a:solidFill>
              </a:rPr>
              <a:t>Später soll das komplette Spiel einmalig 5€</a:t>
            </a:r>
            <a:r>
              <a:rPr lang="de-DE" sz="2200" dirty="0">
                <a:solidFill>
                  <a:schemeClr val="tx1">
                    <a:lumMod val="65000"/>
                    <a:lumOff val="35000"/>
                  </a:schemeClr>
                </a:solidFill>
              </a:rPr>
              <a:t>(Mobile) </a:t>
            </a:r>
            <a:r>
              <a:rPr lang="de-DE" sz="2200" dirty="0">
                <a:solidFill>
                  <a:srgbClr val="7FB6D3"/>
                </a:solidFill>
              </a:rPr>
              <a:t>bis 15€</a:t>
            </a:r>
            <a:r>
              <a:rPr lang="de-DE" sz="2200" dirty="0">
                <a:solidFill>
                  <a:schemeClr val="tx1">
                    <a:lumMod val="65000"/>
                    <a:lumOff val="35000"/>
                  </a:schemeClr>
                </a:solidFill>
              </a:rPr>
              <a:t>(Desktop) </a:t>
            </a:r>
            <a:r>
              <a:rPr lang="de-DE" sz="2200" dirty="0">
                <a:solidFill>
                  <a:srgbClr val="7FB6D3"/>
                </a:solidFill>
              </a:rPr>
              <a:t>kosten.</a:t>
            </a:r>
          </a:p>
        </p:txBody>
      </p:sp>
    </p:spTree>
    <p:extLst>
      <p:ext uri="{BB962C8B-B14F-4D97-AF65-F5344CB8AC3E}">
        <p14:creationId xmlns:p14="http://schemas.microsoft.com/office/powerpoint/2010/main" val="20037736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2FE71-6812-1140-593E-4197854B990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4C23A2-88A4-B62E-FA0F-88A8FB728A99}"/>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Danach</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48A12F16-82D0-9AC0-2CBA-69E55A80B620}"/>
              </a:ext>
            </a:extLst>
          </p:cNvPr>
          <p:cNvSpPr txBox="1"/>
          <p:nvPr/>
        </p:nvSpPr>
        <p:spPr>
          <a:xfrm>
            <a:off x="2755991" y="2668589"/>
            <a:ext cx="2526553" cy="2074863"/>
          </a:xfrm>
          <a:prstGeom prst="rect">
            <a:avLst/>
          </a:prstGeom>
          <a:noFill/>
        </p:spPr>
        <p:txBody>
          <a:bodyPr wrap="square" rtlCol="0">
            <a:spAutoFit/>
          </a:bodyPr>
          <a:lstStyle/>
          <a:p>
            <a:pPr>
              <a:lnSpc>
                <a:spcPct val="150000"/>
              </a:lnSpc>
            </a:pPr>
            <a:r>
              <a:rPr lang="de-DE" sz="2200" dirty="0">
                <a:solidFill>
                  <a:srgbClr val="7FB6D3"/>
                </a:solidFill>
              </a:rPr>
              <a:t>Klassische Dungeons die mit ASCII gezeichnet werden. </a:t>
            </a:r>
          </a:p>
        </p:txBody>
      </p:sp>
      <p:sp>
        <p:nvSpPr>
          <p:cNvPr id="3" name="Foliennummernplatzhalter 2">
            <a:extLst>
              <a:ext uri="{FF2B5EF4-FFF2-40B4-BE49-F238E27FC236}">
                <a16:creationId xmlns:a16="http://schemas.microsoft.com/office/drawing/2014/main" id="{6B131542-362D-A94E-3CFC-6B88913CDAEA}"/>
              </a:ext>
            </a:extLst>
          </p:cNvPr>
          <p:cNvSpPr>
            <a:spLocks noGrp="1"/>
          </p:cNvSpPr>
          <p:nvPr>
            <p:ph type="sldNum" sz="quarter" idx="12"/>
          </p:nvPr>
        </p:nvSpPr>
        <p:spPr/>
        <p:txBody>
          <a:bodyPr/>
          <a:lstStyle/>
          <a:p>
            <a:fld id="{4118D7DC-84C5-45D3-BF8A-BA4205260971}" type="slidenum">
              <a:rPr lang="en-DE" smtClean="0"/>
              <a:t>19</a:t>
            </a:fld>
            <a:endParaRPr lang="en-DE"/>
          </a:p>
        </p:txBody>
      </p:sp>
      <p:pic>
        <p:nvPicPr>
          <p:cNvPr id="5" name="Grafik 4">
            <a:extLst>
              <a:ext uri="{FF2B5EF4-FFF2-40B4-BE49-F238E27FC236}">
                <a16:creationId xmlns:a16="http://schemas.microsoft.com/office/drawing/2014/main" id="{0E5D2E75-9BC0-8DD2-8EBF-C050867BEAEB}"/>
              </a:ext>
            </a:extLst>
          </p:cNvPr>
          <p:cNvPicPr>
            <a:picLocks noChangeAspect="1"/>
          </p:cNvPicPr>
          <p:nvPr/>
        </p:nvPicPr>
        <p:blipFill>
          <a:blip r:embed="rId2"/>
          <a:stretch>
            <a:fillRect/>
          </a:stretch>
        </p:blipFill>
        <p:spPr>
          <a:xfrm>
            <a:off x="838200" y="2012727"/>
            <a:ext cx="1778091" cy="4343623"/>
          </a:xfrm>
          <a:prstGeom prst="rect">
            <a:avLst/>
          </a:prstGeom>
        </p:spPr>
      </p:pic>
      <p:pic>
        <p:nvPicPr>
          <p:cNvPr id="7" name="Grafik 6">
            <a:extLst>
              <a:ext uri="{FF2B5EF4-FFF2-40B4-BE49-F238E27FC236}">
                <a16:creationId xmlns:a16="http://schemas.microsoft.com/office/drawing/2014/main" id="{80E6E635-6D54-BC60-892C-66577B1D9F7D}"/>
              </a:ext>
            </a:extLst>
          </p:cNvPr>
          <p:cNvPicPr>
            <a:picLocks noChangeAspect="1"/>
          </p:cNvPicPr>
          <p:nvPr/>
        </p:nvPicPr>
        <p:blipFill>
          <a:blip r:embed="rId3"/>
          <a:stretch>
            <a:fillRect/>
          </a:stretch>
        </p:blipFill>
        <p:spPr>
          <a:xfrm>
            <a:off x="2699497" y="4873569"/>
            <a:ext cx="2583047" cy="1482781"/>
          </a:xfrm>
          <a:prstGeom prst="rect">
            <a:avLst/>
          </a:prstGeom>
        </p:spPr>
      </p:pic>
      <p:pic>
        <p:nvPicPr>
          <p:cNvPr id="9" name="Grafik 8">
            <a:extLst>
              <a:ext uri="{FF2B5EF4-FFF2-40B4-BE49-F238E27FC236}">
                <a16:creationId xmlns:a16="http://schemas.microsoft.com/office/drawing/2014/main" id="{AC1B1E78-395D-E6E9-0D94-E8D5BBB63604}"/>
              </a:ext>
            </a:extLst>
          </p:cNvPr>
          <p:cNvPicPr>
            <a:picLocks noChangeAspect="1"/>
          </p:cNvPicPr>
          <p:nvPr/>
        </p:nvPicPr>
        <p:blipFill>
          <a:blip r:embed="rId4"/>
          <a:stretch>
            <a:fillRect/>
          </a:stretch>
        </p:blipFill>
        <p:spPr>
          <a:xfrm>
            <a:off x="6096000" y="3994032"/>
            <a:ext cx="933498" cy="2292468"/>
          </a:xfrm>
          <a:prstGeom prst="rect">
            <a:avLst/>
          </a:prstGeom>
        </p:spPr>
      </p:pic>
      <p:sp>
        <p:nvSpPr>
          <p:cNvPr id="10" name="Textfeld 9">
            <a:extLst>
              <a:ext uri="{FF2B5EF4-FFF2-40B4-BE49-F238E27FC236}">
                <a16:creationId xmlns:a16="http://schemas.microsoft.com/office/drawing/2014/main" id="{E588620C-334C-D24E-C3FA-DDF246AC69EF}"/>
              </a:ext>
            </a:extLst>
          </p:cNvPr>
          <p:cNvSpPr txBox="1"/>
          <p:nvPr/>
        </p:nvSpPr>
        <p:spPr>
          <a:xfrm>
            <a:off x="7105554" y="5297149"/>
            <a:ext cx="4463959" cy="1059201"/>
          </a:xfrm>
          <a:prstGeom prst="rect">
            <a:avLst/>
          </a:prstGeom>
          <a:noFill/>
        </p:spPr>
        <p:txBody>
          <a:bodyPr wrap="square" rtlCol="0">
            <a:spAutoFit/>
          </a:bodyPr>
          <a:lstStyle/>
          <a:p>
            <a:pPr>
              <a:lnSpc>
                <a:spcPct val="150000"/>
              </a:lnSpc>
            </a:pPr>
            <a:r>
              <a:rPr lang="de-DE" sz="2200" dirty="0">
                <a:solidFill>
                  <a:srgbClr val="7FB6D3"/>
                </a:solidFill>
              </a:rPr>
              <a:t>Berufe sollen spielbar sein mit ihren eigenen Geschichten</a:t>
            </a:r>
          </a:p>
        </p:txBody>
      </p:sp>
      <p:pic>
        <p:nvPicPr>
          <p:cNvPr id="13" name="Grafik 12" descr="Kirschblüte mit einfarbiger Füllung">
            <a:extLst>
              <a:ext uri="{FF2B5EF4-FFF2-40B4-BE49-F238E27FC236}">
                <a16:creationId xmlns:a16="http://schemas.microsoft.com/office/drawing/2014/main" id="{49D54A10-3CBA-FA76-EE6C-3D03050730B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3059" y="2130257"/>
            <a:ext cx="914400" cy="914400"/>
          </a:xfrm>
          <a:prstGeom prst="rect">
            <a:avLst/>
          </a:prstGeom>
        </p:spPr>
      </p:pic>
      <p:pic>
        <p:nvPicPr>
          <p:cNvPr id="15" name="Grafik 14" descr="Kristalle mit einfarbiger Füllung">
            <a:extLst>
              <a:ext uri="{FF2B5EF4-FFF2-40B4-BE49-F238E27FC236}">
                <a16:creationId xmlns:a16="http://schemas.microsoft.com/office/drawing/2014/main" id="{45975947-52DA-40A8-6B28-89F79E3ACC3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211359" y="1513259"/>
            <a:ext cx="914400" cy="914400"/>
          </a:xfrm>
          <a:prstGeom prst="rect">
            <a:avLst/>
          </a:prstGeom>
        </p:spPr>
      </p:pic>
      <p:pic>
        <p:nvPicPr>
          <p:cNvPr id="17" name="Grafik 16" descr="Pilz mit einfarbiger Füllung">
            <a:extLst>
              <a:ext uri="{FF2B5EF4-FFF2-40B4-BE49-F238E27FC236}">
                <a16:creationId xmlns:a16="http://schemas.microsoft.com/office/drawing/2014/main" id="{9849FC40-4239-D2A2-E9C0-204D5929D209}"/>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740809" y="2285520"/>
            <a:ext cx="914400" cy="914400"/>
          </a:xfrm>
          <a:prstGeom prst="rect">
            <a:avLst/>
          </a:prstGeom>
        </p:spPr>
      </p:pic>
      <p:pic>
        <p:nvPicPr>
          <p:cNvPr id="19" name="Grafik 18" descr="Sterne mit einfarbiger Füllung">
            <a:extLst>
              <a:ext uri="{FF2B5EF4-FFF2-40B4-BE49-F238E27FC236}">
                <a16:creationId xmlns:a16="http://schemas.microsoft.com/office/drawing/2014/main" id="{A0847BF0-2B5D-CD13-ADE8-2D3C6F54133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324159" y="1817168"/>
            <a:ext cx="914400" cy="914400"/>
          </a:xfrm>
          <a:prstGeom prst="rect">
            <a:avLst/>
          </a:prstGeom>
        </p:spPr>
      </p:pic>
      <p:sp>
        <p:nvSpPr>
          <p:cNvPr id="20" name="Textfeld 19">
            <a:extLst>
              <a:ext uri="{FF2B5EF4-FFF2-40B4-BE49-F238E27FC236}">
                <a16:creationId xmlns:a16="http://schemas.microsoft.com/office/drawing/2014/main" id="{10EA041C-0F56-D331-9118-72499C829AAD}"/>
              </a:ext>
            </a:extLst>
          </p:cNvPr>
          <p:cNvSpPr txBox="1"/>
          <p:nvPr/>
        </p:nvSpPr>
        <p:spPr>
          <a:xfrm>
            <a:off x="8827247" y="3151982"/>
            <a:ext cx="2526553" cy="1567032"/>
          </a:xfrm>
          <a:prstGeom prst="rect">
            <a:avLst/>
          </a:prstGeom>
          <a:noFill/>
        </p:spPr>
        <p:txBody>
          <a:bodyPr wrap="square" rtlCol="0">
            <a:spAutoFit/>
          </a:bodyPr>
          <a:lstStyle/>
          <a:p>
            <a:pPr>
              <a:lnSpc>
                <a:spcPct val="150000"/>
              </a:lnSpc>
            </a:pPr>
            <a:r>
              <a:rPr lang="de-DE" sz="2200" dirty="0">
                <a:solidFill>
                  <a:srgbClr val="7FB6D3"/>
                </a:solidFill>
              </a:rPr>
              <a:t>Icons und andere kleinere grafische Elemente</a:t>
            </a:r>
          </a:p>
        </p:txBody>
      </p:sp>
      <p:sp>
        <p:nvSpPr>
          <p:cNvPr id="21" name="Textfeld 20">
            <a:extLst>
              <a:ext uri="{FF2B5EF4-FFF2-40B4-BE49-F238E27FC236}">
                <a16:creationId xmlns:a16="http://schemas.microsoft.com/office/drawing/2014/main" id="{0F37A183-E56A-90FE-79B3-5B7396E0B52A}"/>
              </a:ext>
            </a:extLst>
          </p:cNvPr>
          <p:cNvSpPr txBox="1"/>
          <p:nvPr/>
        </p:nvSpPr>
        <p:spPr>
          <a:xfrm>
            <a:off x="3091733" y="1229211"/>
            <a:ext cx="4624075" cy="1567032"/>
          </a:xfrm>
          <a:prstGeom prst="rect">
            <a:avLst/>
          </a:prstGeom>
          <a:noFill/>
        </p:spPr>
        <p:txBody>
          <a:bodyPr wrap="square" rtlCol="0">
            <a:spAutoFit/>
          </a:bodyPr>
          <a:lstStyle/>
          <a:p>
            <a:pPr algn="r">
              <a:lnSpc>
                <a:spcPct val="150000"/>
              </a:lnSpc>
            </a:pPr>
            <a:r>
              <a:rPr lang="de-DE" sz="2200" dirty="0">
                <a:solidFill>
                  <a:srgbClr val="7FB6D3"/>
                </a:solidFill>
              </a:rPr>
              <a:t>Skills und </a:t>
            </a:r>
            <a:r>
              <a:rPr lang="de-DE" sz="2200" dirty="0" err="1">
                <a:solidFill>
                  <a:srgbClr val="7FB6D3"/>
                </a:solidFill>
              </a:rPr>
              <a:t>Lifeskills</a:t>
            </a:r>
            <a:r>
              <a:rPr lang="de-DE" sz="2200" dirty="0">
                <a:solidFill>
                  <a:srgbClr val="7FB6D3"/>
                </a:solidFill>
              </a:rPr>
              <a:t> um dem Spiel mehr tiefe und Beschäftigung zu geben</a:t>
            </a:r>
          </a:p>
        </p:txBody>
      </p:sp>
    </p:spTree>
    <p:extLst>
      <p:ext uri="{BB962C8B-B14F-4D97-AF65-F5344CB8AC3E}">
        <p14:creationId xmlns:p14="http://schemas.microsoft.com/office/powerpoint/2010/main" val="6432672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9764F-10CF-ED1B-C118-55D3D95A201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D079134-B967-0634-FAEA-95800594BAC9}"/>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Ende</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4E8D1C8A-CD9D-F8FC-8FE9-831A2A6CEB39}"/>
              </a:ext>
            </a:extLst>
          </p:cNvPr>
          <p:cNvSpPr txBox="1"/>
          <p:nvPr/>
        </p:nvSpPr>
        <p:spPr>
          <a:xfrm>
            <a:off x="838200" y="1690689"/>
            <a:ext cx="3510435" cy="1059201"/>
          </a:xfrm>
          <a:prstGeom prst="rect">
            <a:avLst/>
          </a:prstGeom>
          <a:noFill/>
        </p:spPr>
        <p:txBody>
          <a:bodyPr wrap="square" rtlCol="0">
            <a:spAutoFit/>
          </a:bodyPr>
          <a:lstStyle/>
          <a:p>
            <a:pPr>
              <a:lnSpc>
                <a:spcPct val="150000"/>
              </a:lnSpc>
            </a:pPr>
            <a:r>
              <a:rPr lang="de-DE" sz="2200" dirty="0">
                <a:solidFill>
                  <a:srgbClr val="7FB6D3"/>
                </a:solidFill>
              </a:rPr>
              <a:t>Jede Präsentation braucht ein Ende...</a:t>
            </a:r>
          </a:p>
        </p:txBody>
      </p:sp>
      <p:sp>
        <p:nvSpPr>
          <p:cNvPr id="3" name="Foliennummernplatzhalter 2">
            <a:extLst>
              <a:ext uri="{FF2B5EF4-FFF2-40B4-BE49-F238E27FC236}">
                <a16:creationId xmlns:a16="http://schemas.microsoft.com/office/drawing/2014/main" id="{CA1929DD-1ADE-BF80-EF4B-D595D0F64A72}"/>
              </a:ext>
            </a:extLst>
          </p:cNvPr>
          <p:cNvSpPr>
            <a:spLocks noGrp="1"/>
          </p:cNvSpPr>
          <p:nvPr>
            <p:ph type="sldNum" sz="quarter" idx="12"/>
          </p:nvPr>
        </p:nvSpPr>
        <p:spPr/>
        <p:txBody>
          <a:bodyPr/>
          <a:lstStyle/>
          <a:p>
            <a:fld id="{4118D7DC-84C5-45D3-BF8A-BA4205260971}" type="slidenum">
              <a:rPr lang="en-DE" smtClean="0"/>
              <a:t>20</a:t>
            </a:fld>
            <a:endParaRPr lang="en-DE"/>
          </a:p>
        </p:txBody>
      </p:sp>
      <p:pic>
        <p:nvPicPr>
          <p:cNvPr id="5" name="Grafik 4" descr="Ein Bild, das Cartoon, Drache, Fiktive Gestalt, Animation enthält.&#10;&#10;KI-generierte Inhalte können fehlerhaft sein.">
            <a:extLst>
              <a:ext uri="{FF2B5EF4-FFF2-40B4-BE49-F238E27FC236}">
                <a16:creationId xmlns:a16="http://schemas.microsoft.com/office/drawing/2014/main" id="{8C78F541-1A59-95EE-3A0C-46B8DE967B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25208" y="1416970"/>
            <a:ext cx="6366791" cy="5806153"/>
          </a:xfrm>
          <a:prstGeom prst="rect">
            <a:avLst/>
          </a:prstGeom>
        </p:spPr>
      </p:pic>
      <p:sp>
        <p:nvSpPr>
          <p:cNvPr id="6" name="Sprechblase: rechteckig mit abgerundeten Ecken 5">
            <a:extLst>
              <a:ext uri="{FF2B5EF4-FFF2-40B4-BE49-F238E27FC236}">
                <a16:creationId xmlns:a16="http://schemas.microsoft.com/office/drawing/2014/main" id="{D78F52A7-ED13-2C52-5E65-83612ADA3D58}"/>
              </a:ext>
            </a:extLst>
          </p:cNvPr>
          <p:cNvSpPr/>
          <p:nvPr/>
        </p:nvSpPr>
        <p:spPr>
          <a:xfrm>
            <a:off x="1738058" y="4727346"/>
            <a:ext cx="2924684" cy="1059201"/>
          </a:xfrm>
          <a:prstGeom prst="wedgeRoundRectCallout">
            <a:avLst>
              <a:gd name="adj1" fmla="val 75110"/>
              <a:gd name="adj2" fmla="val -52166"/>
              <a:gd name="adj3" fmla="val 16667"/>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de-DE" dirty="0">
                <a:ln w="0"/>
                <a:solidFill>
                  <a:schemeClr val="accent1"/>
                </a:solidFill>
                <a:effectLst>
                  <a:outerShdw blurRad="38100" dist="25400" dir="5400000" algn="ctr" rotWithShape="0">
                    <a:srgbClr val="6E747A">
                      <a:alpha val="43000"/>
                    </a:srgbClr>
                  </a:outerShdw>
                </a:effectLst>
              </a:rPr>
              <a:t>Ich wurde von einer</a:t>
            </a:r>
          </a:p>
          <a:p>
            <a:pPr algn="ctr"/>
            <a:r>
              <a:rPr lang="de-DE" dirty="0">
                <a:ln w="0"/>
                <a:solidFill>
                  <a:schemeClr val="accent1"/>
                </a:solidFill>
                <a:effectLst>
                  <a:outerShdw blurRad="38100" dist="25400" dir="5400000" algn="ctr" rotWithShape="0">
                    <a:srgbClr val="6E747A">
                      <a:alpha val="43000"/>
                    </a:srgbClr>
                  </a:outerShdw>
                </a:effectLst>
              </a:rPr>
              <a:t>KI gezeichnet!</a:t>
            </a:r>
            <a:endParaRPr lang="en-DE" dirty="0">
              <a:ln w="0"/>
              <a:solidFill>
                <a:schemeClr val="accent1"/>
              </a:solidFill>
              <a:effectLst>
                <a:outerShdw blurRad="38100" dist="25400" dir="5400000" algn="ctr" rotWithShape="0">
                  <a:srgbClr val="6E747A">
                    <a:alpha val="43000"/>
                  </a:srgbClr>
                </a:outerShdw>
              </a:effectLst>
            </a:endParaRPr>
          </a:p>
        </p:txBody>
      </p:sp>
    </p:spTree>
    <p:extLst>
      <p:ext uri="{BB962C8B-B14F-4D97-AF65-F5344CB8AC3E}">
        <p14:creationId xmlns:p14="http://schemas.microsoft.com/office/powerpoint/2010/main" val="14861645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1b9d4-e831-4ae4-95e1-0aa3ecf436b6}" enabled="1" method="Standard" siteId="{fb6ebdec-8671-4834-9ab5-d391005f79f9}" contentBits="0" removed="0"/>
</clbl:labelList>
</file>

<file path=docProps/app.xml><?xml version="1.0" encoding="utf-8"?>
<Properties xmlns="http://schemas.openxmlformats.org/officeDocument/2006/extended-properties" xmlns:vt="http://schemas.openxmlformats.org/officeDocument/2006/docPropsVTypes">
  <TotalTime>0</TotalTime>
  <Words>875</Words>
  <Application>Microsoft Office PowerPoint</Application>
  <PresentationFormat>Breitbild</PresentationFormat>
  <Paragraphs>188</Paragraphs>
  <Slides>20</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20</vt:i4>
      </vt:variant>
    </vt:vector>
  </HeadingPairs>
  <TitlesOfParts>
    <vt:vector size="26" baseType="lpstr">
      <vt:lpstr>Aptos</vt:lpstr>
      <vt:lpstr>Aptos Display</vt:lpstr>
      <vt:lpstr>Arial</vt:lpstr>
      <vt:lpstr>Chiller</vt:lpstr>
      <vt:lpstr>Wingdings</vt:lpstr>
      <vt:lpstr>Office</vt:lpstr>
      <vt:lpstr>PowerPoint-Präsentation</vt:lpstr>
      <vt:lpstr>Inhalt</vt:lpstr>
      <vt:lpstr>Ziel und Motivation</vt:lpstr>
      <vt:lpstr>Core Features</vt:lpstr>
      <vt:lpstr>Game Features</vt:lpstr>
      <vt:lpstr>Story</vt:lpstr>
      <vt:lpstr>Die Welt</vt:lpstr>
      <vt:lpstr>Layout</vt:lpstr>
      <vt:lpstr>Aufbau des Projektes</vt:lpstr>
      <vt:lpstr>Aufbau eines Ortes</vt:lpstr>
      <vt:lpstr>Templates</vt:lpstr>
      <vt:lpstr>Routing</vt:lpstr>
      <vt:lpstr>Events</vt:lpstr>
      <vt:lpstr>Quests</vt:lpstr>
      <vt:lpstr>Kampf</vt:lpstr>
      <vt:lpstr>Items und Buffs</vt:lpstr>
      <vt:lpstr>Store</vt:lpstr>
      <vt:lpstr>Veröffentlichen</vt:lpstr>
      <vt:lpstr>Danach</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Ina Ludwig</dc:creator>
  <cp:lastModifiedBy>Ina Ludwig</cp:lastModifiedBy>
  <cp:revision>36</cp:revision>
  <dcterms:created xsi:type="dcterms:W3CDTF">2025-02-21T07:52:17Z</dcterms:created>
  <dcterms:modified xsi:type="dcterms:W3CDTF">2025-02-25T09:08:50Z</dcterms:modified>
</cp:coreProperties>
</file>