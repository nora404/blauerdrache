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9" r:id="rId15"/>
    <p:sldId id="268" r:id="rId16"/>
    <p:sldId id="270" r:id="rId17"/>
    <p:sldId id="271" r:id="rId18"/>
    <p:sldId id="274" r:id="rId19"/>
    <p:sldId id="272" r:id="rId20"/>
    <p:sldId id="273" r:id="rId2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359B"/>
    <a:srgbClr val="171A23"/>
    <a:srgbClr val="7FB6D3"/>
    <a:srgbClr val="3B3B95"/>
    <a:srgbClr val="D0C238"/>
    <a:srgbClr val="A82828"/>
    <a:srgbClr val="A500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1" autoAdjust="0"/>
    <p:restoredTop sz="94660"/>
  </p:normalViewPr>
  <p:slideViewPr>
    <p:cSldViewPr snapToGrid="0">
      <p:cViewPr varScale="1">
        <p:scale>
          <a:sx n="91" d="100"/>
          <a:sy n="91" d="100"/>
        </p:scale>
        <p:origin x="3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86D8-E4B2-4C9D-BEBF-8C1475A253D2}" type="datetimeFigureOut">
              <a:rPr lang="en-DE" smtClean="0"/>
              <a:t>02/24/2025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EA311-F4A3-4C66-B188-D3C6DF483C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069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96F20-E21D-1394-78D8-04A26F2E6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A7EE34-B55E-63AE-67E5-AE960EE1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0CC77-0036-2FA4-5316-00ADADAA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60D-9800-498B-B992-8875F4391BD9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D02B3B-3209-0703-50C9-00548E35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107CD3-BDC0-5434-B470-2ACDF1F9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34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3C50A-291A-A975-EC69-B4E719A1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48192-4559-D7C8-CF07-06EFFF612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0EE756-442D-3511-F070-8B11AF0D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7B54-6829-4F41-A463-BF8857A13C62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D7505C-4245-2D70-63DD-0135018E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05B10-82F4-58A5-9645-CA8CDBBD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024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50F9D-6D6E-C4B0-2059-ED37290E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8E064D-DDA0-8C52-795A-D288E4B09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434489-A9D7-9C72-FA22-396B8609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3A0A5-9E68-4012-8B2D-027D119EA806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AD4FB5-F04C-1825-6192-40133F53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E31F04-C925-902D-7452-842B9C70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60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32E59-474E-4434-FE9E-7D9A4331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497CC4-2BD2-9BEB-CE62-C7D70B53B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5EBA07-419D-38EE-21C1-A6B357CD6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36C7F7-3DCE-1F52-DC4F-F70C454A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4169-20C0-40B5-BF4E-738CF0D1A560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88A4AA-DCD8-835F-C874-A1197AE0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1C0F23-E5E4-8E5F-B90D-643E2EFC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957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EF9A7B-F8D7-4969-2B05-5BC0CCDC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C144F5-6E59-3979-873F-0CC2CCF37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708FBE-3283-507E-0DF3-9E894AE3F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044FAF-A879-BE4D-A622-A351F6BA8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8B4B6E-53B5-952F-3573-1E7B3C527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061431-DB68-BF26-A8B3-7D7A498F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E97F-D80B-42CB-8AB4-7567E1DAD779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8D8CBE-7D1C-AB41-83F3-7117F537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B63298A-A987-0121-4263-ABB75624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05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174877-6108-4D78-59AE-4402C25E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2FDA09-E930-87EC-4A8F-B4FE41CD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B307-F75F-4DD8-99A5-59C3511F43B8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CCE365-E093-09BC-E1FE-B9C1235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43906-525E-F406-9A9E-485FABCC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581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616F50C-A3EE-06F8-0907-D9D115BE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B4EC7-9C46-4879-9373-2EA8805A7945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7BC565-9135-FFDF-8FC9-166D89B6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AED5D6-F182-EA46-3C27-FDA98867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693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F4CE8-9BED-998B-D806-D2EA653A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4116F6-185E-5782-D86E-96B9A61BA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E846C1-C6C8-FCBA-35FC-477090984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859171-52B1-A391-C969-6DF456C2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23A-8541-4632-9B17-9360EA9CA6AD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C2068B-5624-7508-F05C-8B18FD60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1473F9-426D-6BE0-8927-55EBAD5B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176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38DEF-A369-8FFD-5B58-CBD2FC19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ED3A16-997A-7CF7-498C-2411BF7CB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B3338-5E0A-6C09-33C8-34227F6CB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13C932-ED4B-8C14-4A0C-6C89CE31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A5F6-B34B-43EE-B781-BD695CF52CD6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CD67A2-AFFB-3C1E-704C-AB98BCE90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2F810D-CD5A-A956-59D8-F48CA10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049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E24F-93CF-2203-1A33-285642A0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40D3D4-5ECE-6581-7DBF-95CFA9C63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795F97-73B9-099F-8271-A2DB3C30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ABB03-3748-4F36-8CE3-7690DCE480EA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4DD086-AFC6-BE0A-5964-BB41FF1B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325DCD-7ABB-A3C5-DADD-497F3A32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15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E0FA4F8-3C07-CC33-C071-34E539FF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7C3D21-DF72-A57E-FE92-7B8EB9DE0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D6C93A-B20B-F311-ED1E-CD84E03D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E70B-30DF-4588-A660-16BBF78450FF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6FAFA5-5F5E-061D-DEDF-EB305821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9C3EC1-3EA0-696D-8056-E555089F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186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9526A8E-3C6D-3304-B26F-B61C874D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03073E-D816-564B-06F4-5084ABC03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3506FD-9515-EEEE-9754-47467AB4D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36AEE-DEB5-4176-83CB-90F4305997B3}" type="datetime8">
              <a:rPr lang="en-DE" smtClean="0"/>
              <a:t>02/24/2025 17:55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569899-9598-E995-0D80-845D26C72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92A933-6DFF-1223-1247-2E2DB3C3A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8D7DC-84C5-45D3-BF8A-BA420526097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660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Bild, Riff, Kunst, Cartoon enthält.&#10;&#10;KI-generierte Inhalte können fehlerhaft sein.">
            <a:extLst>
              <a:ext uri="{FF2B5EF4-FFF2-40B4-BE49-F238E27FC236}">
                <a16:creationId xmlns:a16="http://schemas.microsoft.com/office/drawing/2014/main" id="{55BA5088-702B-634D-A47B-F9EB2A66EC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7716"/>
            <a:ext cx="12001499" cy="6858000"/>
          </a:xfrm>
          <a:prstGeom prst="ellipse">
            <a:avLst/>
          </a:prstGeom>
          <a:ln>
            <a:noFill/>
          </a:ln>
          <a:effectLst>
            <a:softEdge rad="635000"/>
          </a:effectLst>
        </p:spPr>
      </p:pic>
      <p:pic>
        <p:nvPicPr>
          <p:cNvPr id="8" name="Grafik 7" descr="Ein Bild, das Handschrift, Schrift, Kalligrafie, Typografie enthält.">
            <a:extLst>
              <a:ext uri="{FF2B5EF4-FFF2-40B4-BE49-F238E27FC236}">
                <a16:creationId xmlns:a16="http://schemas.microsoft.com/office/drawing/2014/main" id="{6107A75A-0D21-2508-31D0-061090E9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625" y="1060518"/>
            <a:ext cx="5936750" cy="80099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B4C97F3-9445-7AB9-5DA8-A30D9AF5E00F}"/>
              </a:ext>
            </a:extLst>
          </p:cNvPr>
          <p:cNvSpPr/>
          <p:nvPr/>
        </p:nvSpPr>
        <p:spPr>
          <a:xfrm>
            <a:off x="4933950" y="2832718"/>
            <a:ext cx="2324100" cy="2393332"/>
          </a:xfrm>
          <a:prstGeom prst="ellipse">
            <a:avLst/>
          </a:prstGeom>
          <a:solidFill>
            <a:srgbClr val="171A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0" name="Grafik 9" descr="Ein Bild, das Feder, Cartoon, Vogel, Kunst enthält.&#10;&#10;KI-generierte Inhalte können fehlerhaft sein.">
            <a:extLst>
              <a:ext uri="{FF2B5EF4-FFF2-40B4-BE49-F238E27FC236}">
                <a16:creationId xmlns:a16="http://schemas.microsoft.com/office/drawing/2014/main" id="{9C2E7422-6360-4970-E2BF-03F33BA14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770" y="2084166"/>
            <a:ext cx="3672460" cy="3649884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5CA3AF-73A8-568F-16F6-566D7507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6356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FB831-A182-11CE-D3EE-82C4A39C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Inhalt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BCF05E3-7474-8D24-7998-FC11DEF3A7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3691"/>
              </p:ext>
            </p:extLst>
          </p:nvPr>
        </p:nvGraphicFramePr>
        <p:xfrm>
          <a:off x="838200" y="1825625"/>
          <a:ext cx="4864585" cy="4212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630048">
                  <a:extLst>
                    <a:ext uri="{9D8B030D-6E8A-4147-A177-3AD203B41FA5}">
                      <a16:colId xmlns:a16="http://schemas.microsoft.com/office/drawing/2014/main" val="2898369813"/>
                    </a:ext>
                  </a:extLst>
                </a:gridCol>
                <a:gridCol w="1234537">
                  <a:extLst>
                    <a:ext uri="{9D8B030D-6E8A-4147-A177-3AD203B41FA5}">
                      <a16:colId xmlns:a16="http://schemas.microsoft.com/office/drawing/2014/main" val="10783476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Ziel und Motivation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121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Core Features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0434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Game Features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11511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Story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4317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Die Welt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8439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Layout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62022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Aufbau des Projektes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3711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Aufbau eines Ortes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10 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3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Templates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29813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D46319-DE8A-F691-C6D6-1E59B468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2</a:t>
            </a:fld>
            <a:endParaRPr lang="en-DE"/>
          </a:p>
        </p:txBody>
      </p:sp>
      <p:graphicFrame>
        <p:nvGraphicFramePr>
          <p:cNvPr id="5" name="Inhaltsplatzhalter 3">
            <a:extLst>
              <a:ext uri="{FF2B5EF4-FFF2-40B4-BE49-F238E27FC236}">
                <a16:creationId xmlns:a16="http://schemas.microsoft.com/office/drawing/2014/main" id="{0CBB31BC-D469-9BEB-D597-F84AA20BC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266373"/>
              </p:ext>
            </p:extLst>
          </p:nvPr>
        </p:nvGraphicFramePr>
        <p:xfrm>
          <a:off x="6489214" y="1825625"/>
          <a:ext cx="4864586" cy="4212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327497">
                  <a:extLst>
                    <a:ext uri="{9D8B030D-6E8A-4147-A177-3AD203B41FA5}">
                      <a16:colId xmlns:a16="http://schemas.microsoft.com/office/drawing/2014/main" val="2898369813"/>
                    </a:ext>
                  </a:extLst>
                </a:gridCol>
                <a:gridCol w="1537089">
                  <a:extLst>
                    <a:ext uri="{9D8B030D-6E8A-4147-A177-3AD203B41FA5}">
                      <a16:colId xmlns:a16="http://schemas.microsoft.com/office/drawing/2014/main" val="8093716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Routing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121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Events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13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0434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Quests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14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11511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7FB6D3"/>
                          </a:solidFill>
                          <a:latin typeface="+mn-lt"/>
                          <a:ea typeface="+mn-ea"/>
                          <a:cs typeface="+mn-cs"/>
                        </a:rPr>
                        <a:t>Kampf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4317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Items und Buffs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8439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Store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17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62022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Veröffentlichen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3711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Danach 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19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3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Ende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</a:t>
                      </a:r>
                      <a:endParaRPr lang="en-DE" sz="2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29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000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7D204-FA88-6E04-DC2A-E1DDE545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2FEE1-80CA-6B79-31DD-9F3CF1FF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Ziel und Motivation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F02E466-F2DA-F3EF-30A3-F1026C00BB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28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983698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8347682"/>
                    </a:ext>
                  </a:extLst>
                </a:gridCol>
              </a:tblGrid>
              <a:tr h="885600">
                <a:tc>
                  <a:txBody>
                    <a:bodyPr/>
                    <a:lstStyle/>
                    <a:p>
                      <a:pPr algn="l"/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Textbasiertes Browsergame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Einfach umzusetzen und braucht keine aufwendigen Grafiken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1218"/>
                  </a:ext>
                </a:extLst>
              </a:tr>
              <a:tr h="885600">
                <a:tc>
                  <a:txBody>
                    <a:bodyPr/>
                    <a:lstStyle/>
                    <a:p>
                      <a:pPr algn="l"/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Vorbild: Legend </a:t>
                      </a:r>
                      <a:r>
                        <a:rPr lang="de-DE" sz="2400" dirty="0" err="1">
                          <a:solidFill>
                            <a:srgbClr val="7FB6D3"/>
                          </a:solidFill>
                        </a:rPr>
                        <a:t>of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</a:t>
                      </a:r>
                      <a:r>
                        <a:rPr lang="de-DE" sz="2400" dirty="0" err="1">
                          <a:solidFill>
                            <a:srgbClr val="7FB6D3"/>
                          </a:solidFill>
                        </a:rPr>
                        <a:t>green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Dragon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Aufgabe eines Wettbewerbes und weil ich das Spiel bereits kenne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043480"/>
                  </a:ext>
                </a:extLst>
              </a:tr>
              <a:tr h="885600">
                <a:tc>
                  <a:txBody>
                    <a:bodyPr/>
                    <a:lstStyle/>
                    <a:p>
                      <a:pPr algn="l"/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Klassisches Fantasy Rollenspiel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Nach dem Vorbild, nur weiter ausgebaut und weil ich es ♥</a:t>
                      </a:r>
                      <a:endParaRPr lang="en-US" sz="1600" kern="1200" dirty="0">
                        <a:solidFill>
                          <a:srgbClr val="7FB6D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115112"/>
                  </a:ext>
                </a:extLst>
              </a:tr>
              <a:tr h="885600">
                <a:tc>
                  <a:txBody>
                    <a:bodyPr/>
                    <a:lstStyle/>
                    <a:p>
                      <a:pPr algn="l"/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Umsetzung in </a:t>
                      </a:r>
                      <a:r>
                        <a:rPr lang="de-DE" sz="2400" dirty="0" err="1">
                          <a:solidFill>
                            <a:srgbClr val="7FB6D3"/>
                          </a:solidFill>
                        </a:rPr>
                        <a:t>React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Weil es auch auf der Arbeit genutzt wird und ich so mehr Übung bekomme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431714"/>
                  </a:ext>
                </a:extLst>
              </a:tr>
              <a:tr h="885600">
                <a:tc>
                  <a:txBody>
                    <a:bodyPr/>
                    <a:lstStyle/>
                    <a:p>
                      <a:pPr algn="l"/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Für Web, Desktop und Mobile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>
                          <a:solidFill>
                            <a:srgbClr val="7FB6D3"/>
                          </a:solidFill>
                        </a:rPr>
                        <a:t>Es soll für alle spielbar sein, vielleicht kann ich damit etwas verdienen?</a:t>
                      </a:r>
                      <a:endParaRPr lang="en-DE" sz="20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843978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E1A2D10-DBB2-7C9F-EA23-8D254CA7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858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2243-C9F8-E86C-0128-1051F1FA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D38BF-A939-3E07-5089-88BB5780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Core Features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8502025-F644-4428-B74C-63CA9E34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1825625"/>
            <a:ext cx="107188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Der Spieler bewegt sich per Klick von Ort zu Ort. 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An jedem Ort kann per Button mit der Umgebung interagiert werden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Der Spieler wird stärker, um am Ende des Kapitels einen Endgegner zu besiegen. Danach fängt er neu mit dem nächsten Kapitel an.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Ziel ist es den blauen Drachen zu finden und die Bedrohung abzuwehren 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F2BFCBC-7BDB-586C-588C-08E67B42A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2877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4025F-C949-D091-1B38-0F55C6D1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5CD0E-4D8D-C7AA-04EA-C2B13C9B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Game Features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491996-913D-6F50-FF55-5FDA18F5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1825625"/>
            <a:ext cx="107188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Bewegung durch eine abwechslungsreiche Welt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Erstellung eines eigenen Charakters mit vielen Rassen/Völkern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Events und Quests erzählen eine Geschichte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Kampfsystem, mit Einfluss durch Items, Buffs und Werten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7FB6D3"/>
                </a:solidFill>
              </a:rPr>
              <a:t>Crafting, </a:t>
            </a:r>
            <a:r>
              <a:rPr lang="de-DE" dirty="0" err="1">
                <a:solidFill>
                  <a:srgbClr val="7FB6D3"/>
                </a:solidFill>
              </a:rPr>
              <a:t>Lifeskills</a:t>
            </a:r>
            <a:r>
              <a:rPr lang="de-DE" dirty="0">
                <a:solidFill>
                  <a:srgbClr val="7FB6D3"/>
                </a:solidFill>
              </a:rPr>
              <a:t>, Skills, Dungeons und Housing (nice </a:t>
            </a:r>
            <a:r>
              <a:rPr lang="de-DE" dirty="0" err="1">
                <a:solidFill>
                  <a:srgbClr val="7FB6D3"/>
                </a:solidFill>
              </a:rPr>
              <a:t>to</a:t>
            </a:r>
            <a:r>
              <a:rPr lang="de-DE" dirty="0">
                <a:solidFill>
                  <a:srgbClr val="7FB6D3"/>
                </a:solidFill>
              </a:rPr>
              <a:t> </a:t>
            </a:r>
            <a:r>
              <a:rPr lang="de-DE" dirty="0" err="1">
                <a:solidFill>
                  <a:srgbClr val="7FB6D3"/>
                </a:solidFill>
              </a:rPr>
              <a:t>have</a:t>
            </a:r>
            <a:r>
              <a:rPr lang="de-DE" dirty="0">
                <a:solidFill>
                  <a:srgbClr val="7FB6D3"/>
                </a:solidFill>
              </a:rPr>
              <a:t>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1AD1E6-26D4-FC05-FF7E-09DA0FD3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3527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6EC0-B10E-12BB-D57E-EC9002DF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A414A-1139-AF46-ACDC-41A795C7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Story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F82317-23C3-810A-767C-5A761ABC3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1825625"/>
            <a:ext cx="5791200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2400" dirty="0">
                <a:solidFill>
                  <a:srgbClr val="7FB6D3"/>
                </a:solidFill>
              </a:rPr>
              <a:t>Am Anfang gab es nur „Alles und Nichts“, daraus endstanden die Elemente in Form der Drachen. Einer wollte alle anderen Drachen verschlingen: die Dunkelheit. Zwei Drachen stellen sich ihm entgegen, gefangen in einer Zeitschleife. Der Spieler soll die Schleife durchbrechen und die Dunkelheit mit dem blauen Drachen zusammen besiegen.</a:t>
            </a:r>
          </a:p>
        </p:txBody>
      </p:sp>
      <p:pic>
        <p:nvPicPr>
          <p:cNvPr id="4" name="Grafik 3" descr="Ein Bild, das Bild, Kunst, Entwurf, Zeichnung enthält.&#10;&#10;KI-generierte Inhalte können fehlerhaft sein.">
            <a:extLst>
              <a:ext uri="{FF2B5EF4-FFF2-40B4-BE49-F238E27FC236}">
                <a16:creationId xmlns:a16="http://schemas.microsoft.com/office/drawing/2014/main" id="{61559FF1-B917-82F3-728D-8B6CD4F4D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700" y="1693863"/>
            <a:ext cx="4483100" cy="4483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A22C355-6602-1852-75F3-1FAA3575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8214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1C97-2DAA-F8B0-FC46-6FF2DEDB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A3E06-DE23-B571-636B-F055044F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Die Welt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pic>
        <p:nvPicPr>
          <p:cNvPr id="8" name="Inhaltsplatzhalter 7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40CFEB6E-B7AE-BF90-49E5-E3326A209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4925865" cy="4351338"/>
          </a:xfrm>
        </p:spPr>
      </p:pic>
      <p:pic>
        <p:nvPicPr>
          <p:cNvPr id="10" name="Grafik 9" descr="Ein Bild, das Text, Karte, Diagramm, Plan enthält.&#10;&#10;KI-generierte Inhalte können fehlerhaft sein.">
            <a:extLst>
              <a:ext uri="{FF2B5EF4-FFF2-40B4-BE49-F238E27FC236}">
                <a16:creationId xmlns:a16="http://schemas.microsoft.com/office/drawing/2014/main" id="{186AFA89-CA7D-3E06-1A81-FEDE7D043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953" y="1117600"/>
            <a:ext cx="4497211" cy="505936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AAFB0EC-2824-9EA2-97D1-DEFD44AC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5095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AB12-84BA-2348-4D8C-F8132FD0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4EFC72-B888-2AB8-E661-57DCDBA0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Layout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9541958-15A3-118E-802F-6FE9A56941EB}"/>
              </a:ext>
            </a:extLst>
          </p:cNvPr>
          <p:cNvSpPr/>
          <p:nvPr/>
        </p:nvSpPr>
        <p:spPr>
          <a:xfrm>
            <a:off x="838200" y="3884613"/>
            <a:ext cx="1066800" cy="2520950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10A72488-C34A-283A-08B4-7A69892C8656}"/>
              </a:ext>
            </a:extLst>
          </p:cNvPr>
          <p:cNvSpPr/>
          <p:nvPr/>
        </p:nvSpPr>
        <p:spPr>
          <a:xfrm>
            <a:off x="2051050" y="3884613"/>
            <a:ext cx="2660650" cy="2520950"/>
          </a:xfrm>
          <a:prstGeom prst="roundRect">
            <a:avLst>
              <a:gd name="adj" fmla="val 5584"/>
            </a:avLst>
          </a:prstGeom>
          <a:noFill/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7136289-B1A0-3100-A7DB-E4334C0796E0}"/>
              </a:ext>
            </a:extLst>
          </p:cNvPr>
          <p:cNvSpPr/>
          <p:nvPr/>
        </p:nvSpPr>
        <p:spPr>
          <a:xfrm>
            <a:off x="4857750" y="3884613"/>
            <a:ext cx="1066800" cy="2520950"/>
          </a:xfrm>
          <a:prstGeom prst="roundRect">
            <a:avLst/>
          </a:prstGeom>
          <a:noFill/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78B8C39-564D-0A8F-51E9-9317B0A8FE9D}"/>
              </a:ext>
            </a:extLst>
          </p:cNvPr>
          <p:cNvSpPr txBox="1"/>
          <p:nvPr/>
        </p:nvSpPr>
        <p:spPr>
          <a:xfrm>
            <a:off x="2695931" y="4211638"/>
            <a:ext cx="137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Desktop</a:t>
            </a:r>
          </a:p>
          <a:p>
            <a:pPr algn="ctr"/>
            <a:r>
              <a:rPr lang="de-DE" dirty="0">
                <a:solidFill>
                  <a:srgbClr val="7FB6D3"/>
                </a:solidFill>
              </a:rPr>
              <a:t>Hauptinhalt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AD5FEE2-25C9-89B4-B0E6-C2452C0ED033}"/>
              </a:ext>
            </a:extLst>
          </p:cNvPr>
          <p:cNvSpPr txBox="1"/>
          <p:nvPr/>
        </p:nvSpPr>
        <p:spPr>
          <a:xfrm>
            <a:off x="976299" y="4211638"/>
            <a:ext cx="790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Game</a:t>
            </a:r>
          </a:p>
          <a:p>
            <a:pPr algn="ctr"/>
            <a:r>
              <a:rPr lang="de-DE" dirty="0">
                <a:solidFill>
                  <a:srgbClr val="7FB6D3"/>
                </a:solidFill>
              </a:rPr>
              <a:t>Navi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4126D86-1F50-32FD-A255-2637DAEF2597}"/>
              </a:ext>
            </a:extLst>
          </p:cNvPr>
          <p:cNvSpPr txBox="1"/>
          <p:nvPr/>
        </p:nvSpPr>
        <p:spPr>
          <a:xfrm>
            <a:off x="4990687" y="4211638"/>
            <a:ext cx="800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Player</a:t>
            </a:r>
          </a:p>
          <a:p>
            <a:pPr algn="ctr"/>
            <a:r>
              <a:rPr lang="de-DE" dirty="0">
                <a:solidFill>
                  <a:srgbClr val="7FB6D3"/>
                </a:solidFill>
              </a:rPr>
              <a:t>Info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FB6481F-3CF7-9A1D-E6B9-48FB00E75CC0}"/>
              </a:ext>
            </a:extLst>
          </p:cNvPr>
          <p:cNvSpPr/>
          <p:nvPr/>
        </p:nvSpPr>
        <p:spPr>
          <a:xfrm>
            <a:off x="7137400" y="955675"/>
            <a:ext cx="869950" cy="2520950"/>
          </a:xfrm>
          <a:prstGeom prst="roundRect">
            <a:avLst/>
          </a:prstGeom>
          <a:noFill/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992FC4B5-CC0C-3C2D-8B33-78676319190E}"/>
              </a:ext>
            </a:extLst>
          </p:cNvPr>
          <p:cNvSpPr/>
          <p:nvPr/>
        </p:nvSpPr>
        <p:spPr>
          <a:xfrm>
            <a:off x="8204199" y="955675"/>
            <a:ext cx="2806701" cy="2520950"/>
          </a:xfrm>
          <a:prstGeom prst="roundRect">
            <a:avLst>
              <a:gd name="adj" fmla="val 5584"/>
            </a:avLst>
          </a:prstGeom>
          <a:noFill/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C650DF6-C1C8-6EB4-40EA-9718E375B851}"/>
              </a:ext>
            </a:extLst>
          </p:cNvPr>
          <p:cNvSpPr txBox="1"/>
          <p:nvPr/>
        </p:nvSpPr>
        <p:spPr>
          <a:xfrm>
            <a:off x="8995131" y="1282700"/>
            <a:ext cx="137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Tablet</a:t>
            </a:r>
          </a:p>
          <a:p>
            <a:pPr algn="ctr"/>
            <a:r>
              <a:rPr lang="de-DE" dirty="0">
                <a:solidFill>
                  <a:srgbClr val="7FB6D3"/>
                </a:solidFill>
              </a:rPr>
              <a:t>Hauptinhalt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50EA59B-43D2-D7D4-CDD6-34DDD4752627}"/>
              </a:ext>
            </a:extLst>
          </p:cNvPr>
          <p:cNvSpPr txBox="1"/>
          <p:nvPr/>
        </p:nvSpPr>
        <p:spPr>
          <a:xfrm>
            <a:off x="7177074" y="1282700"/>
            <a:ext cx="790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Game</a:t>
            </a:r>
          </a:p>
          <a:p>
            <a:pPr algn="ctr"/>
            <a:r>
              <a:rPr lang="de-DE" dirty="0">
                <a:solidFill>
                  <a:srgbClr val="7FB6D3"/>
                </a:solidFill>
              </a:rPr>
              <a:t>Navi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7BC7E245-5914-65AD-3BF9-E98190A2CABE}"/>
              </a:ext>
            </a:extLst>
          </p:cNvPr>
          <p:cNvSpPr/>
          <p:nvPr/>
        </p:nvSpPr>
        <p:spPr>
          <a:xfrm>
            <a:off x="7137400" y="450850"/>
            <a:ext cx="3873500" cy="369888"/>
          </a:xfrm>
          <a:prstGeom prst="roundRect">
            <a:avLst>
              <a:gd name="adj" fmla="val 31171"/>
            </a:avLst>
          </a:prstGeom>
          <a:noFill/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5118A50-CF92-3EFD-BE38-3B12D2BCE77B}"/>
              </a:ext>
            </a:extLst>
          </p:cNvPr>
          <p:cNvSpPr txBox="1"/>
          <p:nvPr/>
        </p:nvSpPr>
        <p:spPr>
          <a:xfrm>
            <a:off x="8324850" y="450850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7FB6D3"/>
                </a:solidFill>
              </a:rPr>
              <a:t>Player Info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62991A3-EE2B-D5DF-C127-432BA2337657}"/>
              </a:ext>
            </a:extLst>
          </p:cNvPr>
          <p:cNvSpPr/>
          <p:nvPr/>
        </p:nvSpPr>
        <p:spPr>
          <a:xfrm>
            <a:off x="7173900" y="4359275"/>
            <a:ext cx="1066800" cy="1555751"/>
          </a:xfrm>
          <a:prstGeom prst="roundRect">
            <a:avLst>
              <a:gd name="adj" fmla="val 8334"/>
            </a:avLst>
          </a:prstGeom>
          <a:noFill/>
          <a:ln w="381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BD411A7-7158-CA9C-F209-8FEBFE260469}"/>
              </a:ext>
            </a:extLst>
          </p:cNvPr>
          <p:cNvSpPr/>
          <p:nvPr/>
        </p:nvSpPr>
        <p:spPr>
          <a:xfrm>
            <a:off x="7158024" y="3884613"/>
            <a:ext cx="1066800" cy="369888"/>
          </a:xfrm>
          <a:prstGeom prst="roundRect">
            <a:avLst>
              <a:gd name="adj" fmla="val 20871"/>
            </a:avLst>
          </a:prstGeom>
          <a:noFill/>
          <a:ln w="381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C888D654-C8B6-768D-8210-A6737B6A0F71}"/>
              </a:ext>
            </a:extLst>
          </p:cNvPr>
          <p:cNvSpPr/>
          <p:nvPr/>
        </p:nvSpPr>
        <p:spPr>
          <a:xfrm>
            <a:off x="7173900" y="6037262"/>
            <a:ext cx="1066800" cy="369888"/>
          </a:xfrm>
          <a:prstGeom prst="roundRect">
            <a:avLst>
              <a:gd name="adj" fmla="val 20871"/>
            </a:avLst>
          </a:prstGeom>
          <a:noFill/>
          <a:ln w="381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E7D4984-E1C0-C433-B128-2500F109F2DE}"/>
              </a:ext>
            </a:extLst>
          </p:cNvPr>
          <p:cNvSpPr txBox="1"/>
          <p:nvPr/>
        </p:nvSpPr>
        <p:spPr>
          <a:xfrm>
            <a:off x="8339125" y="4826684"/>
            <a:ext cx="137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7FB6D3"/>
                </a:solidFill>
              </a:rPr>
              <a:t>Mobile</a:t>
            </a:r>
          </a:p>
          <a:p>
            <a:r>
              <a:rPr lang="de-DE" dirty="0">
                <a:solidFill>
                  <a:srgbClr val="7FB6D3"/>
                </a:solidFill>
              </a:rPr>
              <a:t>Hauptinhalt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073B67E-4E8B-3CC6-DB59-FBC4E28D7666}"/>
              </a:ext>
            </a:extLst>
          </p:cNvPr>
          <p:cNvSpPr txBox="1"/>
          <p:nvPr/>
        </p:nvSpPr>
        <p:spPr>
          <a:xfrm>
            <a:off x="8339125" y="6035675"/>
            <a:ext cx="137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7FB6D3"/>
                </a:solidFill>
              </a:rPr>
              <a:t>Game Navi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E3AFDF7-9FCD-0648-B94B-7D76D6B41B37}"/>
              </a:ext>
            </a:extLst>
          </p:cNvPr>
          <p:cNvSpPr txBox="1"/>
          <p:nvPr/>
        </p:nvSpPr>
        <p:spPr>
          <a:xfrm>
            <a:off x="8324850" y="3885169"/>
            <a:ext cx="127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7FB6D3"/>
                </a:solidFill>
              </a:rPr>
              <a:t>Player Info</a:t>
            </a:r>
            <a:endParaRPr lang="en-DE" dirty="0">
              <a:solidFill>
                <a:srgbClr val="7FB6D3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C8E8F6B-3DFA-F901-FDDD-DE9F18172F5F}"/>
              </a:ext>
            </a:extLst>
          </p:cNvPr>
          <p:cNvSpPr txBox="1"/>
          <p:nvPr/>
        </p:nvSpPr>
        <p:spPr>
          <a:xfrm>
            <a:off x="793750" y="1697578"/>
            <a:ext cx="5429252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Das Layout ist responsiv und wird mithilfe von CSS Media Queries umgesetzt, die drei verschiedene Auflösungen unterstützen.</a:t>
            </a:r>
            <a:endParaRPr lang="en-DE" sz="2200" dirty="0">
              <a:solidFill>
                <a:srgbClr val="7FB6D3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7EB43D5-7CB4-278B-EF7D-39F45DBF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0230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5DD4-746E-CA9A-772C-A3E5AEEB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DF035-1831-8467-DEF4-14A3E0C4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Aufbau des Projektes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DE3DB582-73E7-EF5D-125B-A453A40E0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631489"/>
              </p:ext>
            </p:extLst>
          </p:nvPr>
        </p:nvGraphicFramePr>
        <p:xfrm>
          <a:off x="838200" y="1825625"/>
          <a:ext cx="10515597" cy="4320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9965647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655359011"/>
                    </a:ext>
                  </a:extLst>
                </a:gridCol>
                <a:gridCol w="7746997">
                  <a:extLst>
                    <a:ext uri="{9D8B030D-6E8A-4147-A177-3AD203B41FA5}">
                      <a16:colId xmlns:a16="http://schemas.microsoft.com/office/drawing/2014/main" val="2310920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assets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Bilder des Spieles, Sounds gibt es nicht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29224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data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Unveränderliche Daten wie Strings oder Tabellen 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8024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layout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Komponenten die allgemein das Layout beschreiben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1527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playground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Orte/Seiten in der sich der Spieler bewegt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3646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routings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Collections der Routings und deren Komponenten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64279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store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State Management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459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styles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CSS Dateien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617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utility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Hilfsfunktionen, Hooks und Editoren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03402"/>
                  </a:ext>
                </a:extLst>
              </a:tr>
            </a:tbl>
          </a:graphicData>
        </a:graphic>
      </p:graphicFrame>
      <p:pic>
        <p:nvPicPr>
          <p:cNvPr id="7" name="Grafik 6" descr="Geöffneter Ordner mit einfarbiger Füllung">
            <a:extLst>
              <a:ext uri="{FF2B5EF4-FFF2-40B4-BE49-F238E27FC236}">
                <a16:creationId xmlns:a16="http://schemas.microsoft.com/office/drawing/2014/main" id="{9FB95AF0-0A20-9B04-45FD-7DE3CC973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25" y="2292350"/>
            <a:ext cx="679450" cy="679450"/>
          </a:xfrm>
          <a:prstGeom prst="rect">
            <a:avLst/>
          </a:prstGeom>
        </p:spPr>
      </p:pic>
      <p:pic>
        <p:nvPicPr>
          <p:cNvPr id="9" name="Grafik 8" descr="Geöffneter Ordner mit einfarbiger Füllung">
            <a:extLst>
              <a:ext uri="{FF2B5EF4-FFF2-40B4-BE49-F238E27FC236}">
                <a16:creationId xmlns:a16="http://schemas.microsoft.com/office/drawing/2014/main" id="{80417D4B-DDE9-0774-AC86-9C271CD15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825" y="1746250"/>
            <a:ext cx="679450" cy="679450"/>
          </a:xfrm>
          <a:prstGeom prst="rect">
            <a:avLst/>
          </a:prstGeom>
        </p:spPr>
      </p:pic>
      <p:pic>
        <p:nvPicPr>
          <p:cNvPr id="14" name="Grafik 13" descr="Geöffneter Ordner mit einfarbiger Füllung">
            <a:extLst>
              <a:ext uri="{FF2B5EF4-FFF2-40B4-BE49-F238E27FC236}">
                <a16:creationId xmlns:a16="http://schemas.microsoft.com/office/drawing/2014/main" id="{EF079B74-530C-D427-C28C-1D71C9C200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825" y="3380787"/>
            <a:ext cx="679450" cy="679450"/>
          </a:xfrm>
          <a:prstGeom prst="rect">
            <a:avLst/>
          </a:prstGeom>
        </p:spPr>
      </p:pic>
      <p:pic>
        <p:nvPicPr>
          <p:cNvPr id="15" name="Grafik 14" descr="Geöffneter Ordner mit einfarbiger Füllung">
            <a:extLst>
              <a:ext uri="{FF2B5EF4-FFF2-40B4-BE49-F238E27FC236}">
                <a16:creationId xmlns:a16="http://schemas.microsoft.com/office/drawing/2014/main" id="{7664B8E6-FA8D-F6DF-810F-4428737D86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5825" y="2834687"/>
            <a:ext cx="679450" cy="679450"/>
          </a:xfrm>
          <a:prstGeom prst="rect">
            <a:avLst/>
          </a:prstGeom>
        </p:spPr>
      </p:pic>
      <p:pic>
        <p:nvPicPr>
          <p:cNvPr id="16" name="Grafik 15" descr="Geöffneter Ordner mit einfarbiger Füllung">
            <a:extLst>
              <a:ext uri="{FF2B5EF4-FFF2-40B4-BE49-F238E27FC236}">
                <a16:creationId xmlns:a16="http://schemas.microsoft.com/office/drawing/2014/main" id="{235E2264-B529-A12E-4FDF-4561E0166C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825" y="4456524"/>
            <a:ext cx="679450" cy="679450"/>
          </a:xfrm>
          <a:prstGeom prst="rect">
            <a:avLst/>
          </a:prstGeom>
        </p:spPr>
      </p:pic>
      <p:pic>
        <p:nvPicPr>
          <p:cNvPr id="17" name="Grafik 16" descr="Geöffneter Ordner mit einfarbiger Füllung">
            <a:extLst>
              <a:ext uri="{FF2B5EF4-FFF2-40B4-BE49-F238E27FC236}">
                <a16:creationId xmlns:a16="http://schemas.microsoft.com/office/drawing/2014/main" id="{AA99A9A5-B769-99D6-7C30-6BA247027D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825" y="3910424"/>
            <a:ext cx="679450" cy="679450"/>
          </a:xfrm>
          <a:prstGeom prst="rect">
            <a:avLst/>
          </a:prstGeom>
        </p:spPr>
      </p:pic>
      <p:pic>
        <p:nvPicPr>
          <p:cNvPr id="18" name="Grafik 17" descr="Geöffneter Ordner mit einfarbiger Füllung">
            <a:extLst>
              <a:ext uri="{FF2B5EF4-FFF2-40B4-BE49-F238E27FC236}">
                <a16:creationId xmlns:a16="http://schemas.microsoft.com/office/drawing/2014/main" id="{A0E05DD0-B4E4-38CD-5476-6A8654BF93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5825" y="5534848"/>
            <a:ext cx="679450" cy="679450"/>
          </a:xfrm>
          <a:prstGeom prst="rect">
            <a:avLst/>
          </a:prstGeom>
        </p:spPr>
      </p:pic>
      <p:pic>
        <p:nvPicPr>
          <p:cNvPr id="19" name="Grafik 18" descr="Geöffneter Ordner mit einfarbiger Füllung">
            <a:extLst>
              <a:ext uri="{FF2B5EF4-FFF2-40B4-BE49-F238E27FC236}">
                <a16:creationId xmlns:a16="http://schemas.microsoft.com/office/drawing/2014/main" id="{CFFF9517-5775-8471-BA2F-FD2F920C1A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5825" y="4988748"/>
            <a:ext cx="679450" cy="679450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B588823-91CF-C7F1-1E4A-DB6942BC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7860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7846-9620-A7C8-4E98-092CE0AD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74211-F6A2-9327-2CEC-CBB67B7E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Aufbau eines Ortes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3E28CEF6-7FBC-D668-0423-5551265DC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508296"/>
              </p:ext>
            </p:extLst>
          </p:nvPr>
        </p:nvGraphicFramePr>
        <p:xfrm>
          <a:off x="838200" y="1825625"/>
          <a:ext cx="10515597" cy="4320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99656476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655359011"/>
                    </a:ext>
                  </a:extLst>
                </a:gridCol>
                <a:gridCol w="6464297">
                  <a:extLst>
                    <a:ext uri="{9D8B030D-6E8A-4147-A177-3AD203B41FA5}">
                      <a16:colId xmlns:a16="http://schemas.microsoft.com/office/drawing/2014/main" val="2310920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playground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29224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lahtheim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8024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center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1527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   church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3646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      </a:t>
                      </a:r>
                      <a:r>
                        <a:rPr lang="de-DE" sz="2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Church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.tsx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Hauptseite mit Beschreibung Tag/Nacht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64279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      Church</a:t>
                      </a:r>
                      <a:r>
                        <a:rPr lang="de-DE" sz="2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Navi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.tsx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Navigation, um diesen Ort zu verlassen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459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      Church</a:t>
                      </a:r>
                      <a:r>
                        <a:rPr lang="de-DE" sz="2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Donate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.tsx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Bedingte Interaktion, mit Events oder Quests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617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            Church</a:t>
                      </a:r>
                      <a:r>
                        <a:rPr lang="de-DE" sz="2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Pray</a:t>
                      </a: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.tsx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rgbClr val="7FB6D3"/>
                          </a:solidFill>
                        </a:rPr>
                        <a:t>Interaktion, mit Events oder Quests</a:t>
                      </a:r>
                      <a:endParaRPr lang="en-DE" sz="2400" dirty="0">
                        <a:solidFill>
                          <a:srgbClr val="7FB6D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03402"/>
                  </a:ext>
                </a:extLst>
              </a:tr>
            </a:tbl>
          </a:graphicData>
        </a:graphic>
      </p:graphicFrame>
      <p:pic>
        <p:nvPicPr>
          <p:cNvPr id="7" name="Grafik 6" descr="Geöffneter Ordner mit einfarbiger Füllung">
            <a:extLst>
              <a:ext uri="{FF2B5EF4-FFF2-40B4-BE49-F238E27FC236}">
                <a16:creationId xmlns:a16="http://schemas.microsoft.com/office/drawing/2014/main" id="{D722980E-A4D1-18C1-5B09-E36284F6E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575" y="2292350"/>
            <a:ext cx="679450" cy="679450"/>
          </a:xfrm>
          <a:prstGeom prst="rect">
            <a:avLst/>
          </a:prstGeom>
        </p:spPr>
      </p:pic>
      <p:pic>
        <p:nvPicPr>
          <p:cNvPr id="9" name="Grafik 8" descr="Geöffneter Ordner mit einfarbiger Füllung">
            <a:extLst>
              <a:ext uri="{FF2B5EF4-FFF2-40B4-BE49-F238E27FC236}">
                <a16:creationId xmlns:a16="http://schemas.microsoft.com/office/drawing/2014/main" id="{79D47655-41F9-54F4-5601-EAAAB9601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825" y="1746250"/>
            <a:ext cx="679450" cy="679450"/>
          </a:xfrm>
          <a:prstGeom prst="rect">
            <a:avLst/>
          </a:prstGeom>
        </p:spPr>
      </p:pic>
      <p:pic>
        <p:nvPicPr>
          <p:cNvPr id="14" name="Grafik 13" descr="Geöffneter Ordner mit einfarbiger Füllung">
            <a:extLst>
              <a:ext uri="{FF2B5EF4-FFF2-40B4-BE49-F238E27FC236}">
                <a16:creationId xmlns:a16="http://schemas.microsoft.com/office/drawing/2014/main" id="{56E6BDFB-DAC7-21D7-00A4-D2E9F52C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0025" y="3380787"/>
            <a:ext cx="679450" cy="679450"/>
          </a:xfrm>
          <a:prstGeom prst="rect">
            <a:avLst/>
          </a:prstGeom>
        </p:spPr>
      </p:pic>
      <p:pic>
        <p:nvPicPr>
          <p:cNvPr id="15" name="Grafik 14" descr="Geöffneter Ordner mit einfarbiger Füllung">
            <a:extLst>
              <a:ext uri="{FF2B5EF4-FFF2-40B4-BE49-F238E27FC236}">
                <a16:creationId xmlns:a16="http://schemas.microsoft.com/office/drawing/2014/main" id="{D9864018-070F-CD3A-F4BE-D59E7E0CC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525" y="2834687"/>
            <a:ext cx="679450" cy="679450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AA60F1-7009-4782-FED9-EF83267E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9743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2BF4B-F126-18A9-B9FC-560F6D7A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461BD-DFD3-DE88-69E8-19905E3F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Templates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56D5104-DBD4-6D38-01D3-DFF41EBC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250" y="1478155"/>
            <a:ext cx="5195660" cy="453125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68DD6FF-B682-3DD0-F464-42CEE7943463}"/>
              </a:ext>
            </a:extLst>
          </p:cNvPr>
          <p:cNvSpPr txBox="1"/>
          <p:nvPr/>
        </p:nvSpPr>
        <p:spPr>
          <a:xfrm>
            <a:off x="838200" y="1690688"/>
            <a:ext cx="5257800" cy="359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Die Orte und deren Umgebung benutzten Templates, so können sie schlank und dumm bleiben.</a:t>
            </a:r>
          </a:p>
          <a:p>
            <a:pPr>
              <a:lnSpc>
                <a:spcPct val="150000"/>
              </a:lnSpc>
            </a:pPr>
            <a:endParaRPr lang="de-DE" sz="2200" dirty="0">
              <a:solidFill>
                <a:srgbClr val="7FB6D3"/>
              </a:solidFill>
            </a:endParaRPr>
          </a:p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Es gibt Komponenten die sich nur um das View kümmern und andere kümmern sich nur um die Logik.</a:t>
            </a:r>
            <a:endParaRPr lang="en-DE" sz="2200" dirty="0">
              <a:solidFill>
                <a:srgbClr val="7FB6D3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D6D7AF0-00B5-7AEB-4A29-10296DE8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15570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6503-6F22-6DC8-106C-2E57AA52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265BC98-DE0C-F9CD-1EC5-1530E9F96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930732"/>
            <a:ext cx="10515600" cy="3207923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DB976B-92F4-D698-E909-40669054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Routing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5B7B67-D843-9824-1B13-3F810FBCBDE8}"/>
              </a:ext>
            </a:extLst>
          </p:cNvPr>
          <p:cNvSpPr txBox="1"/>
          <p:nvPr/>
        </p:nvSpPr>
        <p:spPr>
          <a:xfrm>
            <a:off x="838200" y="1690688"/>
            <a:ext cx="10356850" cy="207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Der aktuelle Ort wird durch die URL angegeben. Dieser wird als Path gespeichert und beim Start des Spiels geladen.</a:t>
            </a:r>
          </a:p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So startet der Spieler immer</a:t>
            </a:r>
          </a:p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am richtigen Ort. </a:t>
            </a:r>
            <a:endParaRPr lang="en-DE" sz="2200" dirty="0">
              <a:solidFill>
                <a:srgbClr val="7FB6D3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729D7D-F0EA-AA40-2044-158C10BC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8114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BECE-A11F-E2D6-AF11-62C35E9D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B2D07-B60B-DF66-8319-4081DEFC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Events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965703D-22D9-C214-DA87-7C6A70CE19B8}"/>
              </a:ext>
            </a:extLst>
          </p:cNvPr>
          <p:cNvSpPr txBox="1"/>
          <p:nvPr/>
        </p:nvSpPr>
        <p:spPr>
          <a:xfrm>
            <a:off x="838200" y="1690689"/>
            <a:ext cx="4527550" cy="309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Alles was passieren kann wird durch ein Event ausgelöst. Diese können wiederum Aufgaben oder Kämpfe starten, weitere Events triggern, oder den State/Value ändern.</a:t>
            </a:r>
            <a:endParaRPr lang="en-DE" sz="2200" dirty="0">
              <a:solidFill>
                <a:srgbClr val="7FB6D3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186CBF-05AD-1673-CF72-59F9436C3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138238"/>
            <a:ext cx="10686641" cy="4953348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3F1DB03-9177-0604-8148-2CEBE1F4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3865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8200-46B3-6B1E-666C-D8E38637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E4317-872A-7666-BB7B-10EEF946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Quests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84EB60-D92A-6522-F8B1-C6AC93914D00}"/>
              </a:ext>
            </a:extLst>
          </p:cNvPr>
          <p:cNvSpPr txBox="1"/>
          <p:nvPr/>
        </p:nvSpPr>
        <p:spPr>
          <a:xfrm>
            <a:off x="838200" y="1690689"/>
            <a:ext cx="5967449" cy="105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Quests sind Events die erst dann triggern, wenn eine Bedingung erfüllt wurde: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52DECF3-EB1F-D1F8-38EE-D0A6E049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14</a:t>
            </a:fld>
            <a:endParaRPr lang="en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AD847B6-070D-540C-1478-E64ADF8F26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59003" y="1496543"/>
            <a:ext cx="3381272" cy="43702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A282B7A-E42B-C3FF-1EFE-71F020AC27F3}"/>
              </a:ext>
            </a:extLst>
          </p:cNvPr>
          <p:cNvSpPr txBox="1"/>
          <p:nvPr/>
        </p:nvSpPr>
        <p:spPr>
          <a:xfrm>
            <a:off x="1151725" y="2905943"/>
            <a:ext cx="5653924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Begegnung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(Finde die gesuchte Person)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Besorgung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(Besorge Gegenstände)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Erkundung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(Erreiche einen Ort)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Benutzten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(Benutzte ein Item an einem Ort)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Besiegen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(Besiege Gegner)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Verbessern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(Habe einen bestimmten Value)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dirty="0">
                <a:solidFill>
                  <a:srgbClr val="7FB6D3"/>
                </a:solidFill>
              </a:rPr>
              <a:t>Schalter	</a:t>
            </a:r>
            <a:r>
              <a:rPr lang="de-DE" sz="1800" dirty="0">
                <a:solidFill>
                  <a:schemeClr val="bg2">
                    <a:lumMod val="50000"/>
                  </a:schemeClr>
                </a:solidFill>
              </a:rPr>
              <a:t>(Irgendetwas verändert die Welt)</a:t>
            </a:r>
            <a:endParaRPr lang="en-DE" sz="1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057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BE61-111B-B54C-269A-7E53BD69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169D90-E4E4-FAFF-7974-CB24029A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Kampf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7D2F83E-D992-CECC-8972-F53F827624A4}"/>
              </a:ext>
            </a:extLst>
          </p:cNvPr>
          <p:cNvSpPr txBox="1"/>
          <p:nvPr/>
        </p:nvSpPr>
        <p:spPr>
          <a:xfrm>
            <a:off x="838200" y="1690689"/>
            <a:ext cx="4527550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Der Kampf läuft rundenbasiert ab. </a:t>
            </a:r>
          </a:p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Das eigentliche Geschehen lässt sich im Log nachlesen.</a:t>
            </a:r>
          </a:p>
        </p:txBody>
      </p:sp>
      <p:pic>
        <p:nvPicPr>
          <p:cNvPr id="7" name="Grafik 6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F785AE1F-F8BA-7E9E-A905-05998718E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51408"/>
            <a:ext cx="5054884" cy="5755183"/>
          </a:xfrm>
          <a:prstGeom prst="rect">
            <a:avLst/>
          </a:prstGeom>
        </p:spPr>
      </p:pic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8EE4703-AE42-8AE7-9FCF-3F04BB12B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3" y="3600280"/>
            <a:ext cx="3563513" cy="2706311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F2A2900-A788-A74E-99FB-5B2991B4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0642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B101-6EA4-F244-E382-90B5FD34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DBD81-79C2-6F02-4915-3E12C9F6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Items und Buffs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D5F64C5-6C28-20A7-C1B3-010F7B700177}"/>
              </a:ext>
            </a:extLst>
          </p:cNvPr>
          <p:cNvSpPr txBox="1"/>
          <p:nvPr/>
        </p:nvSpPr>
        <p:spPr>
          <a:xfrm>
            <a:off x="838200" y="1690689"/>
            <a:ext cx="10515600" cy="55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Der Spieler hat verschiedene Werte: </a:t>
            </a:r>
            <a:r>
              <a:rPr lang="de-DE" sz="2200" dirty="0">
                <a:solidFill>
                  <a:schemeClr val="accent6"/>
                </a:solidFill>
              </a:rPr>
              <a:t>Leben</a:t>
            </a:r>
            <a:r>
              <a:rPr lang="de-DE" sz="2200" dirty="0">
                <a:solidFill>
                  <a:srgbClr val="7FB6D3"/>
                </a:solidFill>
              </a:rPr>
              <a:t>, </a:t>
            </a:r>
            <a:r>
              <a:rPr lang="de-DE" sz="2200" dirty="0">
                <a:solidFill>
                  <a:schemeClr val="accent5"/>
                </a:solidFill>
              </a:rPr>
              <a:t>Aktionen</a:t>
            </a:r>
            <a:r>
              <a:rPr lang="de-DE" sz="2200" dirty="0">
                <a:solidFill>
                  <a:srgbClr val="7FB6D3"/>
                </a:solidFill>
              </a:rPr>
              <a:t>, </a:t>
            </a:r>
            <a:r>
              <a:rPr lang="de-DE" sz="2200" dirty="0">
                <a:solidFill>
                  <a:srgbClr val="C00000"/>
                </a:solidFill>
              </a:rPr>
              <a:t>Angriff</a:t>
            </a:r>
            <a:r>
              <a:rPr lang="de-DE" sz="2200" dirty="0">
                <a:solidFill>
                  <a:srgbClr val="7FB6D3"/>
                </a:solidFill>
              </a:rPr>
              <a:t>, </a:t>
            </a:r>
            <a:r>
              <a:rPr lang="de-DE" sz="2200" dirty="0">
                <a:solidFill>
                  <a:srgbClr val="68359B"/>
                </a:solidFill>
              </a:rPr>
              <a:t>Verteidigung</a:t>
            </a:r>
            <a:r>
              <a:rPr lang="de-DE" sz="2200" dirty="0">
                <a:solidFill>
                  <a:srgbClr val="7FB6D3"/>
                </a:solidFill>
              </a:rPr>
              <a:t> und </a:t>
            </a:r>
            <a:r>
              <a:rPr lang="de-DE" sz="2200" dirty="0">
                <a:solidFill>
                  <a:srgbClr val="FFC000"/>
                </a:solidFill>
              </a:rPr>
              <a:t>Glück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2A27B20-1FB8-D344-1ADC-5F462BF5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16</a:t>
            </a:fld>
            <a:endParaRPr lang="en-DE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6ACEEC9-BE07-08F7-9041-1ACBB80BC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245044"/>
              </p:ext>
            </p:extLst>
          </p:nvPr>
        </p:nvGraphicFramePr>
        <p:xfrm>
          <a:off x="838200" y="2635314"/>
          <a:ext cx="10268824" cy="3456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341228">
                  <a:extLst>
                    <a:ext uri="{9D8B030D-6E8A-4147-A177-3AD203B41FA5}">
                      <a16:colId xmlns:a16="http://schemas.microsoft.com/office/drawing/2014/main" val="1527351911"/>
                    </a:ext>
                  </a:extLst>
                </a:gridCol>
                <a:gridCol w="7927596">
                  <a:extLst>
                    <a:ext uri="{9D8B030D-6E8A-4147-A177-3AD203B41FA5}">
                      <a16:colId xmlns:a16="http://schemas.microsoft.com/office/drawing/2014/main" val="3679306674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Feeling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Für einen Spieltag wird ein Wert positiv oder negativ beeinflusst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84167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Buffs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Für eine bestimmte Anzahl an Runden werden Werte positiv beeinflusst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47849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 err="1">
                          <a:solidFill>
                            <a:srgbClr val="7FB6D3"/>
                          </a:solidFill>
                        </a:rPr>
                        <a:t>Debuffs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Für eine bestimmte Anzahl an Runden werden Werte negativ beeinflusst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823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Weapon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Solange ausgerüstet wird der Angriff dauerhaft erhöht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69889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Armor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Solange ausgerüstet wird die Verteidigung dauerhaft erhöht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4862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Item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>
                          <a:solidFill>
                            <a:srgbClr val="7FB6D3"/>
                          </a:solidFill>
                        </a:rPr>
                        <a:t>Zu jederzeit kann das Item in der Hand ohne Kosten genutzt werden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09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852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F62C-E746-6A92-DA6D-3FD05E2F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67043-4E0B-6F67-8A1F-B5128213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Store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064C40-1D71-DFA0-ACCE-3D4E317827AC}"/>
              </a:ext>
            </a:extLst>
          </p:cNvPr>
          <p:cNvSpPr txBox="1"/>
          <p:nvPr/>
        </p:nvSpPr>
        <p:spPr>
          <a:xfrm>
            <a:off x="838199" y="1690689"/>
            <a:ext cx="10515599" cy="105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MobX verwaltet den Zustand reaktiv mit Observer. Mehrere Stores, die je ein Objekt halten, werden im RootStore zusammengeführt und als Ganzes gespeichert.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DDD03C-DD9C-9EE0-2D86-BCB19F7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5196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775D-057B-C514-0773-DB7492BF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EB44C-8FC6-4201-BCD7-35757E9B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Veröffentlichen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26623D0-AD6B-AFEB-9464-524A92FECDEE}"/>
              </a:ext>
            </a:extLst>
          </p:cNvPr>
          <p:cNvSpPr txBox="1"/>
          <p:nvPr/>
        </p:nvSpPr>
        <p:spPr>
          <a:xfrm>
            <a:off x="838200" y="1690689"/>
            <a:ext cx="4527550" cy="55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Der Kampf läuft rundenbasiert ab.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FB104B7-42E0-E755-0C7C-D9D858D5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3773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FE71-6812-1140-593E-4197854B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4C23A2-88A4-B62E-FA0F-88A8FB72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Danach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8A12F16-82D0-9AC0-2CBA-69E55A80B620}"/>
              </a:ext>
            </a:extLst>
          </p:cNvPr>
          <p:cNvSpPr txBox="1"/>
          <p:nvPr/>
        </p:nvSpPr>
        <p:spPr>
          <a:xfrm>
            <a:off x="838200" y="1690689"/>
            <a:ext cx="4527550" cy="55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Der Kampf läuft rundenbasiert ab.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B131542-362D-A94E-3CFC-6B88913C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3267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764F-10CF-ED1B-C118-55D3D95A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79134-B967-0634-FAEA-95800594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solidFill>
                  <a:srgbClr val="7FB6D3"/>
                </a:solidFill>
                <a:latin typeface="Chiller" panose="04020404031007020602" pitchFamily="82" charset="0"/>
              </a:rPr>
              <a:t>Ende</a:t>
            </a:r>
            <a:endParaRPr lang="en-DE" sz="5400" b="1" dirty="0">
              <a:solidFill>
                <a:srgbClr val="7FB6D3"/>
              </a:solidFill>
              <a:latin typeface="Chiller" panose="04020404031007020602" pitchFamily="8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E8D1C8A-CD9D-F8FC-8FE9-831A2A6CEB39}"/>
              </a:ext>
            </a:extLst>
          </p:cNvPr>
          <p:cNvSpPr txBox="1"/>
          <p:nvPr/>
        </p:nvSpPr>
        <p:spPr>
          <a:xfrm>
            <a:off x="838200" y="1690689"/>
            <a:ext cx="3510435" cy="105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7FB6D3"/>
                </a:solidFill>
              </a:rPr>
              <a:t>Jede Präsentation braucht ein Ende...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A1929DD-1ADE-BF80-EF4B-D595D0F6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8D7DC-84C5-45D3-BF8A-BA4205260971}" type="slidenum">
              <a:rPr lang="en-DE" smtClean="0"/>
              <a:t>20</a:t>
            </a:fld>
            <a:endParaRPr lang="en-DE"/>
          </a:p>
        </p:txBody>
      </p:sp>
      <p:pic>
        <p:nvPicPr>
          <p:cNvPr id="5" name="Grafik 4" descr="Ein Bild, das Cartoon, Drache, Fiktive Gestalt, Animation enthält.&#10;&#10;KI-generierte Inhalte können fehlerhaft sein.">
            <a:extLst>
              <a:ext uri="{FF2B5EF4-FFF2-40B4-BE49-F238E27FC236}">
                <a16:creationId xmlns:a16="http://schemas.microsoft.com/office/drawing/2014/main" id="{8C78F541-1A59-95EE-3A0C-46B8DE967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208" y="1416970"/>
            <a:ext cx="6366791" cy="5806153"/>
          </a:xfrm>
          <a:prstGeom prst="rect">
            <a:avLst/>
          </a:prstGeom>
        </p:spPr>
      </p:pic>
      <p:sp>
        <p:nvSpPr>
          <p:cNvPr id="6" name="Sprechblase: rechteckig mit abgerundeten Ecken 5">
            <a:extLst>
              <a:ext uri="{FF2B5EF4-FFF2-40B4-BE49-F238E27FC236}">
                <a16:creationId xmlns:a16="http://schemas.microsoft.com/office/drawing/2014/main" id="{D78F52A7-ED13-2C52-5E65-83612ADA3D58}"/>
              </a:ext>
            </a:extLst>
          </p:cNvPr>
          <p:cNvSpPr/>
          <p:nvPr/>
        </p:nvSpPr>
        <p:spPr>
          <a:xfrm>
            <a:off x="1738058" y="4727346"/>
            <a:ext cx="2924684" cy="1059201"/>
          </a:xfrm>
          <a:prstGeom prst="wedgeRoundRectCallout">
            <a:avLst>
              <a:gd name="adj1" fmla="val 75110"/>
              <a:gd name="adj2" fmla="val -5216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Ich wurde von einer</a:t>
            </a:r>
          </a:p>
          <a:p>
            <a:pPr algn="ctr"/>
            <a:r>
              <a:rPr lang="de-D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KI gezeichnet!</a:t>
            </a:r>
            <a:endParaRPr lang="en-D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6164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1b9d4-e831-4ae4-95e1-0aa3ecf436b6}" enabled="1" method="Standard" siteId="{fb6ebdec-8671-4834-9ab5-d391005f79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Microsoft Office PowerPoint</Application>
  <PresentationFormat>Breitbild</PresentationFormat>
  <Paragraphs>175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Chiller</vt:lpstr>
      <vt:lpstr>Wingdings</vt:lpstr>
      <vt:lpstr>Office</vt:lpstr>
      <vt:lpstr>PowerPoint-Präsentation</vt:lpstr>
      <vt:lpstr>Inhalt</vt:lpstr>
      <vt:lpstr>Ziel und Motivation</vt:lpstr>
      <vt:lpstr>Core Features</vt:lpstr>
      <vt:lpstr>Game Features</vt:lpstr>
      <vt:lpstr>Story</vt:lpstr>
      <vt:lpstr>Die Welt</vt:lpstr>
      <vt:lpstr>Layout</vt:lpstr>
      <vt:lpstr>Aufbau des Projektes</vt:lpstr>
      <vt:lpstr>Aufbau eines Ortes</vt:lpstr>
      <vt:lpstr>Templates</vt:lpstr>
      <vt:lpstr>Routing</vt:lpstr>
      <vt:lpstr>Events</vt:lpstr>
      <vt:lpstr>Quests</vt:lpstr>
      <vt:lpstr>Kampf</vt:lpstr>
      <vt:lpstr>Items und Buffs</vt:lpstr>
      <vt:lpstr>Store</vt:lpstr>
      <vt:lpstr>Veröffentlichen</vt:lpstr>
      <vt:lpstr>Danach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Ina Ludwig</dc:creator>
  <cp:lastModifiedBy>Ina-Verena Zuta</cp:lastModifiedBy>
  <cp:revision>32</cp:revision>
  <dcterms:created xsi:type="dcterms:W3CDTF">2025-02-21T07:52:17Z</dcterms:created>
  <dcterms:modified xsi:type="dcterms:W3CDTF">2025-02-24T17:54:44Z</dcterms:modified>
</cp:coreProperties>
</file>